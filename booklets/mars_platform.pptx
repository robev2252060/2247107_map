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69" r:id="rId5"/>
    <p:sldId id="259" r:id="rId6"/>
    <p:sldId id="260" r:id="rId7"/>
    <p:sldId id="261" r:id="rId8"/>
    <p:sldId id="262" r:id="rId9"/>
    <p:sldId id="263" r:id="rId10"/>
    <p:sldId id="265" r:id="rId11"/>
    <p:sldId id="266" r:id="rId12"/>
    <p:sldId id="267" r:id="rId13"/>
    <p:sldId id="264" r:id="rId14"/>
    <p:sldId id="268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B0F1A"/>
    <a:srgbClr val="C0392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1020" y="1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3539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787C5-CFEA-220C-AB72-3AE7CE399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931A59-4E92-BCA3-1AB4-068827A658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997236-54FD-13DF-8616-91B4FCAB0F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2C58E1-15F6-2372-4DA1-4FCD191F3B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641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8.png"/><Relationship Id="rId10" Type="http://schemas.openxmlformats.org/officeDocument/2006/relationships/image" Target="../media/image13.png"/><Relationship Id="rId4" Type="http://schemas.openxmlformats.org/officeDocument/2006/relationships/image" Target="../media/image17.png"/><Relationship Id="rId9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3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3.png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7772400" y="0"/>
            <a:ext cx="1371600" cy="7315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57200"/>
            <a:ext cx="822960" cy="822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36576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kern="0" spc="200" dirty="0">
                <a:solidFill>
                  <a:srgbClr val="8899AA"/>
                </a:solidFill>
              </a:rPr>
              <a:t>SAPIENZA UNIVERSITÀ DI ROMA · LAB ADVANCED PROGRAMMING 2025/2026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274320" y="1005840"/>
            <a:ext cx="5943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Mars IoT</a:t>
            </a:r>
            <a:endParaRPr lang="en-US" sz="4600" dirty="0"/>
          </a:p>
          <a:p>
            <a:pPr marL="0" indent="0" algn="l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Platform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274320" y="3108960"/>
            <a:ext cx="5669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sensor ingestion, event-driven automation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E8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real-time habitat monitoring — from Mars.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583680" y="1097280"/>
            <a:ext cx="2286000" cy="1005840"/>
          </a:xfrm>
          <a:prstGeom prst="rect">
            <a:avLst/>
          </a:prstGeom>
          <a:solidFill>
            <a:srgbClr val="0D1B3E"/>
          </a:solidFill>
          <a:ln w="12700">
            <a:solidFill>
              <a:srgbClr val="1ABC9C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9" name="Text 6"/>
          <p:cNvSpPr/>
          <p:nvPr/>
        </p:nvSpPr>
        <p:spPr>
          <a:xfrm>
            <a:off x="6583680" y="114300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6583680" y="16459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</a:rPr>
              <a:t>Microservices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583680" y="2286000"/>
            <a:ext cx="2286000" cy="1005840"/>
          </a:xfrm>
          <a:prstGeom prst="rect">
            <a:avLst/>
          </a:prstGeom>
          <a:solidFill>
            <a:srgbClr val="0D1B3E"/>
          </a:solidFill>
          <a:ln w="12700">
            <a:solidFill>
              <a:srgbClr val="1ABC9C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2" name="Text 9"/>
          <p:cNvSpPr/>
          <p:nvPr/>
        </p:nvSpPr>
        <p:spPr>
          <a:xfrm>
            <a:off x="6583680" y="233172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6583680" y="28346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</a:rPr>
              <a:t>Sensor Sources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583680" y="3474720"/>
            <a:ext cx="2286000" cy="1005840"/>
          </a:xfrm>
          <a:prstGeom prst="rect">
            <a:avLst/>
          </a:prstGeom>
          <a:solidFill>
            <a:srgbClr val="0D1B3E"/>
          </a:solidFill>
          <a:ln w="12700">
            <a:solidFill>
              <a:srgbClr val="1ABC9C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5" name="Text 12"/>
          <p:cNvSpPr/>
          <p:nvPr/>
        </p:nvSpPr>
        <p:spPr>
          <a:xfrm>
            <a:off x="6583680" y="352044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6583680" y="40233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</a:rPr>
              <a:t>Actuators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5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</a:rPr>
              <a:t>Hackathon Exam  ·  5 March 2026  ·  Team Submission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B0F1A"/>
          </a:solidFill>
          <a:ln w="12700">
            <a:solidFill>
              <a:srgbClr val="0B0F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9144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77240" y="0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Mission Overview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274320" y="868680"/>
            <a:ext cx="8595360" cy="1051560"/>
          </a:xfrm>
          <a:prstGeom prst="rect">
            <a:avLst/>
          </a:prstGeom>
          <a:solidFill>
            <a:srgbClr val="0D1B3E"/>
          </a:solidFill>
          <a:ln w="19050">
            <a:solidFill>
              <a:srgbClr val="E67E2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Text 3"/>
          <p:cNvSpPr/>
          <p:nvPr/>
        </p:nvSpPr>
        <p:spPr>
          <a:xfrm>
            <a:off x="502920" y="868680"/>
            <a:ext cx="8229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67E22"/>
                </a:solidFill>
              </a:rPr>
              <a:t>Year 2036. </a:t>
            </a:r>
            <a:r>
              <a:rPr lang="en-US" sz="1250" dirty="0">
                <a:solidFill>
                  <a:srgbClr val="E8ECF2"/>
                </a:solidFill>
              </a:rPr>
              <a:t>You've been accidentally shipped to Mars while sleeping at your desk. The habitat automation stack is partially destroyed. Devices speak incompatible dialects — some stream telemetry, others respond only to polling. Your mission: rebuild the platform before thermodynamic consequences catch up.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274320" y="2103120"/>
            <a:ext cx="2743200" cy="2651760"/>
          </a:xfrm>
          <a:prstGeom prst="rect">
            <a:avLst/>
          </a:prstGeom>
          <a:solidFill>
            <a:srgbClr val="FFFFFF"/>
          </a:solidFill>
          <a:ln w="6350">
            <a:solidFill>
              <a:srgbClr val="8899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8" name="Shape 5"/>
          <p:cNvSpPr/>
          <p:nvPr/>
        </p:nvSpPr>
        <p:spPr>
          <a:xfrm>
            <a:off x="274320" y="2103120"/>
            <a:ext cx="2743200" cy="7315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600" y="2194560"/>
            <a:ext cx="548640" cy="5486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74320" y="2788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2030"/>
                </a:solidFill>
              </a:rPr>
              <a:t>Ingest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411480" y="320040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030"/>
                </a:solidFill>
              </a:rPr>
              <a:t>Poll REST sensors &amp; consume telemetry streams from 15 heterogeneous devices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3154680" y="2103120"/>
            <a:ext cx="2743200" cy="2651760"/>
          </a:xfrm>
          <a:prstGeom prst="rect">
            <a:avLst/>
          </a:prstGeom>
          <a:solidFill>
            <a:srgbClr val="FFFFFF"/>
          </a:solidFill>
          <a:ln w="6350">
            <a:solidFill>
              <a:srgbClr val="8899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3" name="Shape 9"/>
          <p:cNvSpPr/>
          <p:nvPr/>
        </p:nvSpPr>
        <p:spPr>
          <a:xfrm>
            <a:off x="3154680" y="2103120"/>
            <a:ext cx="2743200" cy="7315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1960" y="2194560"/>
            <a:ext cx="548640" cy="54864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54680" y="2788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2030"/>
                </a:solidFill>
              </a:rPr>
              <a:t>Automate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3291840" y="320040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030"/>
                </a:solidFill>
              </a:rPr>
              <a:t>Evaluate IF-THEN rules on every incoming event and trigger actuator commands in real time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6035040" y="2103120"/>
            <a:ext cx="2743200" cy="2651760"/>
          </a:xfrm>
          <a:prstGeom prst="rect">
            <a:avLst/>
          </a:prstGeom>
          <a:solidFill>
            <a:srgbClr val="FFFFFF"/>
          </a:solidFill>
          <a:ln w="6350">
            <a:solidFill>
              <a:srgbClr val="8899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8" name="Shape 13"/>
          <p:cNvSpPr/>
          <p:nvPr/>
        </p:nvSpPr>
        <p:spPr>
          <a:xfrm>
            <a:off x="6035040" y="2103120"/>
            <a:ext cx="2743200" cy="7315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0" y="2194560"/>
            <a:ext cx="548640" cy="54864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035040" y="2788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2030"/>
                </a:solidFill>
              </a:rPr>
              <a:t>Monitor</a:t>
            </a:r>
            <a:endParaRPr lang="en-US" sz="1500" dirty="0"/>
          </a:p>
        </p:txBody>
      </p:sp>
      <p:sp>
        <p:nvSpPr>
          <p:cNvPr id="21" name="Text 15"/>
          <p:cNvSpPr/>
          <p:nvPr/>
        </p:nvSpPr>
        <p:spPr>
          <a:xfrm>
            <a:off x="6172200" y="320040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030"/>
                </a:solidFill>
              </a:rPr>
              <a:t>Serve a live dashboard with sensor state, actuator status, and rule management UI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17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</a:rPr>
              <a:t>Mars Automation Platform  ·  Lab Advanced Programming 2025/2026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4"/>
          <p:cNvSpPr/>
          <p:nvPr/>
        </p:nvSpPr>
        <p:spPr>
          <a:xfrm>
            <a:off x="1628820" y="1728720"/>
            <a:ext cx="411480" cy="0"/>
          </a:xfrm>
          <a:prstGeom prst="line">
            <a:avLst/>
          </a:prstGeom>
          <a:noFill/>
          <a:ln w="254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F1D40FC6-6867-8502-AF8E-4D3A8210D5FF}"/>
              </a:ext>
            </a:extLst>
          </p:cNvPr>
          <p:cNvSpPr/>
          <p:nvPr/>
        </p:nvSpPr>
        <p:spPr>
          <a:xfrm>
            <a:off x="3480300" y="1728720"/>
            <a:ext cx="411480" cy="0"/>
          </a:xfrm>
          <a:prstGeom prst="line">
            <a:avLst/>
          </a:prstGeom>
          <a:noFill/>
          <a:ln w="254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">
            <a:extLst>
              <a:ext uri="{FF2B5EF4-FFF2-40B4-BE49-F238E27FC236}">
                <a16:creationId xmlns:a16="http://schemas.microsoft.com/office/drawing/2014/main" id="{7781CF12-A035-3148-C6A0-DCC97647F83C}"/>
              </a:ext>
            </a:extLst>
          </p:cNvPr>
          <p:cNvSpPr/>
          <p:nvPr/>
        </p:nvSpPr>
        <p:spPr>
          <a:xfrm>
            <a:off x="5292000" y="1728720"/>
            <a:ext cx="411480" cy="0"/>
          </a:xfrm>
          <a:prstGeom prst="line">
            <a:avLst/>
          </a:prstGeom>
          <a:noFill/>
          <a:ln w="254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">
            <a:extLst>
              <a:ext uri="{FF2B5EF4-FFF2-40B4-BE49-F238E27FC236}">
                <a16:creationId xmlns:a16="http://schemas.microsoft.com/office/drawing/2014/main" id="{4C2625DE-921B-5671-23BF-6ECCCCC801E1}"/>
              </a:ext>
            </a:extLst>
          </p:cNvPr>
          <p:cNvSpPr/>
          <p:nvPr/>
        </p:nvSpPr>
        <p:spPr>
          <a:xfrm>
            <a:off x="7103700" y="1728720"/>
            <a:ext cx="411480" cy="0"/>
          </a:xfrm>
          <a:prstGeom prst="line">
            <a:avLst/>
          </a:prstGeom>
          <a:noFill/>
          <a:ln w="254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9144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77240" y="0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System Architecture</a:t>
            </a:r>
            <a:endParaRPr lang="en-US" sz="2200" dirty="0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3B558AD-A795-2076-C78C-73D12E1223F5}"/>
              </a:ext>
            </a:extLst>
          </p:cNvPr>
          <p:cNvGrpSpPr/>
          <p:nvPr/>
        </p:nvGrpSpPr>
        <p:grpSpPr>
          <a:xfrm>
            <a:off x="228600" y="1188720"/>
            <a:ext cx="1440000" cy="1080000"/>
            <a:chOff x="228600" y="1188720"/>
            <a:chExt cx="1463040" cy="1371600"/>
          </a:xfrm>
        </p:grpSpPr>
        <p:sp>
          <p:nvSpPr>
            <p:cNvPr id="5" name="Shape 2"/>
            <p:cNvSpPr/>
            <p:nvPr/>
          </p:nvSpPr>
          <p:spPr>
            <a:xfrm>
              <a:off x="228600" y="1188720"/>
              <a:ext cx="1463040" cy="1371600"/>
            </a:xfrm>
            <a:prstGeom prst="rect">
              <a:avLst/>
            </a:prstGeom>
            <a:solidFill>
              <a:srgbClr val="0D1B3E"/>
            </a:solidFill>
            <a:ln w="25400">
              <a:solidFill>
                <a:srgbClr val="8899AA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8000"/>
                </a:srgbClr>
              </a:outerShdw>
            </a:effectLst>
          </p:spPr>
          <p:txBody>
            <a:bodyPr/>
            <a:lstStyle/>
            <a:p>
              <a:endParaRPr lang="en-GB"/>
            </a:p>
          </p:txBody>
        </p:sp>
        <p:sp>
          <p:nvSpPr>
            <p:cNvPr id="6" name="Text 3"/>
            <p:cNvSpPr/>
            <p:nvPr/>
          </p:nvSpPr>
          <p:spPr>
            <a:xfrm>
              <a:off x="228600" y="1188720"/>
              <a:ext cx="1463040" cy="1371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</a:rPr>
                <a:t>Sensors</a:t>
              </a:r>
              <a:endParaRPr lang="en-US" sz="1200" dirty="0"/>
            </a:p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</a:rPr>
                <a:t>(provided)</a:t>
              </a:r>
              <a:endParaRPr lang="en-US" sz="1200" dirty="0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E9C093B-E49A-FCB4-AB38-74CA42051CFB}"/>
              </a:ext>
            </a:extLst>
          </p:cNvPr>
          <p:cNvGrpSpPr/>
          <p:nvPr/>
        </p:nvGrpSpPr>
        <p:grpSpPr>
          <a:xfrm>
            <a:off x="2040300" y="1188720"/>
            <a:ext cx="1440000" cy="1080000"/>
            <a:chOff x="1874520" y="1188720"/>
            <a:chExt cx="1463040" cy="1371600"/>
          </a:xfrm>
        </p:grpSpPr>
        <p:sp>
          <p:nvSpPr>
            <p:cNvPr id="8" name="Shape 5"/>
            <p:cNvSpPr/>
            <p:nvPr/>
          </p:nvSpPr>
          <p:spPr>
            <a:xfrm>
              <a:off x="1874520" y="1188720"/>
              <a:ext cx="1463040" cy="1371600"/>
            </a:xfrm>
            <a:prstGeom prst="rect">
              <a:avLst/>
            </a:prstGeom>
            <a:solidFill>
              <a:srgbClr val="0D1B3E"/>
            </a:solidFill>
            <a:ln w="25400">
              <a:solidFill>
                <a:srgbClr val="1ABC9C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8000"/>
                </a:srgbClr>
              </a:outerShdw>
            </a:effectLst>
          </p:spPr>
          <p:txBody>
            <a:bodyPr/>
            <a:lstStyle/>
            <a:p>
              <a:endParaRPr lang="en-GB"/>
            </a:p>
          </p:txBody>
        </p:sp>
        <p:sp>
          <p:nvSpPr>
            <p:cNvPr id="9" name="Text 6"/>
            <p:cNvSpPr/>
            <p:nvPr/>
          </p:nvSpPr>
          <p:spPr>
            <a:xfrm>
              <a:off x="1874520" y="1188720"/>
              <a:ext cx="1463040" cy="1371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</a:rPr>
                <a:t>Integration</a:t>
              </a:r>
              <a:endParaRPr lang="en-US" sz="1200" dirty="0"/>
            </a:p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</a:rPr>
                <a:t>Service</a:t>
              </a:r>
              <a:endParaRPr lang="en-US" sz="1200" dirty="0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9B787F84-196F-C470-15AD-A15EB472C49C}"/>
              </a:ext>
            </a:extLst>
          </p:cNvPr>
          <p:cNvGrpSpPr/>
          <p:nvPr/>
        </p:nvGrpSpPr>
        <p:grpSpPr>
          <a:xfrm>
            <a:off x="3852000" y="1235552"/>
            <a:ext cx="1440000" cy="1080000"/>
            <a:chOff x="5166360" y="1188720"/>
            <a:chExt cx="1463040" cy="1371600"/>
          </a:xfrm>
        </p:grpSpPr>
        <p:sp>
          <p:nvSpPr>
            <p:cNvPr id="14" name="Shape 11"/>
            <p:cNvSpPr/>
            <p:nvPr/>
          </p:nvSpPr>
          <p:spPr>
            <a:xfrm>
              <a:off x="5166360" y="1188720"/>
              <a:ext cx="1463040" cy="1371600"/>
            </a:xfrm>
            <a:prstGeom prst="rect">
              <a:avLst/>
            </a:prstGeom>
            <a:solidFill>
              <a:srgbClr val="0D1B3E"/>
            </a:solidFill>
            <a:ln w="25400">
              <a:solidFill>
                <a:srgbClr val="1ABC9C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8000"/>
                </a:srgbClr>
              </a:outerShdw>
            </a:effectLst>
          </p:spPr>
          <p:txBody>
            <a:bodyPr/>
            <a:lstStyle/>
            <a:p>
              <a:endParaRPr lang="en-GB"/>
            </a:p>
          </p:txBody>
        </p:sp>
        <p:sp>
          <p:nvSpPr>
            <p:cNvPr id="15" name="Text 12"/>
            <p:cNvSpPr/>
            <p:nvPr/>
          </p:nvSpPr>
          <p:spPr>
            <a:xfrm>
              <a:off x="5166360" y="1188720"/>
              <a:ext cx="1463040" cy="1371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</a:rPr>
                <a:t>Automation</a:t>
              </a:r>
              <a:endParaRPr lang="en-US" sz="1200" dirty="0"/>
            </a:p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</a:rPr>
                <a:t>Engine</a:t>
              </a:r>
            </a:p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</a:rPr>
                <a:t>Service</a:t>
              </a:r>
              <a:endParaRPr lang="en-US" sz="1200" dirty="0"/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63E4F50-FC02-0028-8CE7-E5A3F1E00E99}"/>
              </a:ext>
            </a:extLst>
          </p:cNvPr>
          <p:cNvGrpSpPr/>
          <p:nvPr/>
        </p:nvGrpSpPr>
        <p:grpSpPr>
          <a:xfrm>
            <a:off x="5663700" y="1234996"/>
            <a:ext cx="1440000" cy="1080000"/>
            <a:chOff x="6812280" y="1188720"/>
            <a:chExt cx="1463040" cy="1371600"/>
          </a:xfrm>
        </p:grpSpPr>
        <p:sp>
          <p:nvSpPr>
            <p:cNvPr id="17" name="Shape 14"/>
            <p:cNvSpPr/>
            <p:nvPr/>
          </p:nvSpPr>
          <p:spPr>
            <a:xfrm>
              <a:off x="6812280" y="1188720"/>
              <a:ext cx="1463040" cy="1371600"/>
            </a:xfrm>
            <a:prstGeom prst="rect">
              <a:avLst/>
            </a:prstGeom>
            <a:solidFill>
              <a:srgbClr val="0D1B3E"/>
            </a:solidFill>
            <a:ln w="25400">
              <a:solidFill>
                <a:srgbClr val="C0392B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8000"/>
                </a:srgbClr>
              </a:outerShdw>
            </a:effectLst>
          </p:spPr>
          <p:txBody>
            <a:bodyPr/>
            <a:lstStyle/>
            <a:p>
              <a:endParaRPr lang="en-GB"/>
            </a:p>
          </p:txBody>
        </p:sp>
        <p:sp>
          <p:nvSpPr>
            <p:cNvPr id="18" name="Text 15"/>
            <p:cNvSpPr/>
            <p:nvPr/>
          </p:nvSpPr>
          <p:spPr>
            <a:xfrm>
              <a:off x="6812280" y="1188720"/>
              <a:ext cx="1463040" cy="1371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</a:rPr>
                <a:t>Actuator</a:t>
              </a:r>
              <a:endParaRPr lang="en-US" sz="1200" dirty="0"/>
            </a:p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</a:rPr>
                <a:t>Service</a:t>
              </a:r>
              <a:endParaRPr lang="en-US" sz="1200" dirty="0"/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CEB22E9F-06D2-F533-150D-AF6FBADF17DB}"/>
              </a:ext>
            </a:extLst>
          </p:cNvPr>
          <p:cNvGrpSpPr/>
          <p:nvPr/>
        </p:nvGrpSpPr>
        <p:grpSpPr>
          <a:xfrm>
            <a:off x="1543230" y="2958019"/>
            <a:ext cx="1440000" cy="1080000"/>
            <a:chOff x="1097280" y="3063240"/>
            <a:chExt cx="1737360" cy="1051560"/>
          </a:xfrm>
        </p:grpSpPr>
        <p:sp>
          <p:nvSpPr>
            <p:cNvPr id="19" name="Shape 16"/>
            <p:cNvSpPr/>
            <p:nvPr/>
          </p:nvSpPr>
          <p:spPr>
            <a:xfrm>
              <a:off x="1097280" y="3063240"/>
              <a:ext cx="1737360" cy="1051560"/>
            </a:xfrm>
            <a:prstGeom prst="rect">
              <a:avLst/>
            </a:prstGeom>
            <a:solidFill>
              <a:srgbClr val="0D1B3E"/>
            </a:solidFill>
            <a:ln w="19050">
              <a:solidFill>
                <a:srgbClr val="1ABC9C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8000"/>
                </a:srgbClr>
              </a:outerShdw>
            </a:effectLst>
          </p:spPr>
          <p:txBody>
            <a:bodyPr/>
            <a:lstStyle/>
            <a:p>
              <a:endParaRPr lang="en-GB"/>
            </a:p>
          </p:txBody>
        </p:sp>
        <p:sp>
          <p:nvSpPr>
            <p:cNvPr id="20" name="Text 17"/>
            <p:cNvSpPr/>
            <p:nvPr/>
          </p:nvSpPr>
          <p:spPr>
            <a:xfrm>
              <a:off x="1097280" y="3063240"/>
              <a:ext cx="1737360" cy="10515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</a:rPr>
                <a:t>Rulebook</a:t>
              </a:r>
            </a:p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</a:rPr>
                <a:t>Service</a:t>
              </a:r>
              <a:endParaRPr lang="en-US" sz="1200" dirty="0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404F5D93-6394-A3E0-2A6C-85CCF0A2056D}"/>
              </a:ext>
            </a:extLst>
          </p:cNvPr>
          <p:cNvGrpSpPr/>
          <p:nvPr/>
        </p:nvGrpSpPr>
        <p:grpSpPr>
          <a:xfrm>
            <a:off x="5498010" y="2958019"/>
            <a:ext cx="1440000" cy="1080000"/>
            <a:chOff x="4572000" y="3086100"/>
            <a:chExt cx="1737360" cy="1051560"/>
          </a:xfrm>
        </p:grpSpPr>
        <p:sp>
          <p:nvSpPr>
            <p:cNvPr id="21" name="Shape 18"/>
            <p:cNvSpPr/>
            <p:nvPr/>
          </p:nvSpPr>
          <p:spPr>
            <a:xfrm>
              <a:off x="4572000" y="3086100"/>
              <a:ext cx="1737360" cy="1051560"/>
            </a:xfrm>
            <a:prstGeom prst="rect">
              <a:avLst/>
            </a:prstGeom>
            <a:solidFill>
              <a:srgbClr val="0D1B3E"/>
            </a:solidFill>
            <a:ln w="19050">
              <a:solidFill>
                <a:srgbClr val="E67E22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8000"/>
                </a:srgbClr>
              </a:outerShdw>
            </a:effectLst>
          </p:spPr>
          <p:txBody>
            <a:bodyPr/>
            <a:lstStyle/>
            <a:p>
              <a:endParaRPr lang="en-GB"/>
            </a:p>
          </p:txBody>
        </p:sp>
        <p:sp>
          <p:nvSpPr>
            <p:cNvPr id="22" name="Text 19"/>
            <p:cNvSpPr/>
            <p:nvPr/>
          </p:nvSpPr>
          <p:spPr>
            <a:xfrm>
              <a:off x="4572000" y="3086100"/>
              <a:ext cx="1737360" cy="10515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</a:rPr>
                <a:t>Nginx</a:t>
              </a:r>
              <a:endParaRPr lang="en-US" sz="1200" dirty="0"/>
            </a:p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</a:rPr>
                <a:t>API Gateway</a:t>
              </a:r>
              <a:endParaRPr lang="en-US" sz="1200" dirty="0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84BC311F-13AE-C946-CACF-86F94B531C21}"/>
              </a:ext>
            </a:extLst>
          </p:cNvPr>
          <p:cNvGrpSpPr/>
          <p:nvPr/>
        </p:nvGrpSpPr>
        <p:grpSpPr>
          <a:xfrm>
            <a:off x="7475400" y="2958019"/>
            <a:ext cx="1440000" cy="1080000"/>
            <a:chOff x="7132320" y="3086100"/>
            <a:chExt cx="1737360" cy="1051560"/>
          </a:xfrm>
        </p:grpSpPr>
        <p:sp>
          <p:nvSpPr>
            <p:cNvPr id="23" name="Shape 20"/>
            <p:cNvSpPr/>
            <p:nvPr/>
          </p:nvSpPr>
          <p:spPr>
            <a:xfrm>
              <a:off x="7132320" y="3086100"/>
              <a:ext cx="1737360" cy="1051560"/>
            </a:xfrm>
            <a:prstGeom prst="rect">
              <a:avLst/>
            </a:prstGeom>
            <a:solidFill>
              <a:srgbClr val="0D1B3E"/>
            </a:solidFill>
            <a:ln w="19050">
              <a:solidFill>
                <a:srgbClr val="C0392B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8000"/>
                </a:srgbClr>
              </a:outerShdw>
            </a:effectLst>
          </p:spPr>
          <p:txBody>
            <a:bodyPr/>
            <a:lstStyle/>
            <a:p>
              <a:endParaRPr lang="en-GB"/>
            </a:p>
          </p:txBody>
        </p:sp>
        <p:sp>
          <p:nvSpPr>
            <p:cNvPr id="24" name="Text 21"/>
            <p:cNvSpPr/>
            <p:nvPr/>
          </p:nvSpPr>
          <p:spPr>
            <a:xfrm>
              <a:off x="7132320" y="3086100"/>
              <a:ext cx="1737360" cy="10515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</a:rPr>
                <a:t>Frontend</a:t>
              </a:r>
              <a:endParaRPr lang="en-US" sz="1200" dirty="0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1E788BA-3206-F521-19BB-563C0C7C77F0}"/>
              </a:ext>
            </a:extLst>
          </p:cNvPr>
          <p:cNvGrpSpPr/>
          <p:nvPr/>
        </p:nvGrpSpPr>
        <p:grpSpPr>
          <a:xfrm>
            <a:off x="228600" y="2958458"/>
            <a:ext cx="777240" cy="1080000"/>
            <a:chOff x="182880" y="3082143"/>
            <a:chExt cx="777240" cy="1080000"/>
          </a:xfrm>
        </p:grpSpPr>
        <p:sp>
          <p:nvSpPr>
            <p:cNvPr id="25" name="Shape 22"/>
            <p:cNvSpPr/>
            <p:nvPr/>
          </p:nvSpPr>
          <p:spPr>
            <a:xfrm>
              <a:off x="182880" y="3082143"/>
              <a:ext cx="777240" cy="1080000"/>
            </a:xfrm>
            <a:prstGeom prst="rect">
              <a:avLst/>
            </a:prstGeom>
            <a:solidFill>
              <a:srgbClr val="0D1B3E"/>
            </a:solidFill>
            <a:ln w="12700">
              <a:solidFill>
                <a:srgbClr val="8899AA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8000"/>
                </a:srgbClr>
              </a:outerShdw>
            </a:effectLst>
          </p:spPr>
          <p:txBody>
            <a:bodyPr/>
            <a:lstStyle/>
            <a:p>
              <a:endParaRPr lang="en-GB"/>
            </a:p>
          </p:txBody>
        </p:sp>
        <p:pic>
          <p:nvPicPr>
            <p:cNvPr id="26" name="Image 1" descr="preencoded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42900" y="3214962"/>
              <a:ext cx="457200" cy="457200"/>
            </a:xfrm>
            <a:prstGeom prst="rect">
              <a:avLst/>
            </a:prstGeom>
          </p:spPr>
        </p:pic>
        <p:sp>
          <p:nvSpPr>
            <p:cNvPr id="27" name="Text 23"/>
            <p:cNvSpPr/>
            <p:nvPr/>
          </p:nvSpPr>
          <p:spPr>
            <a:xfrm>
              <a:off x="182880" y="3671820"/>
              <a:ext cx="77724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8899AA"/>
                  </a:solidFill>
                </a:rPr>
                <a:t>Postgres</a:t>
              </a:r>
              <a:endParaRPr lang="en-US" sz="1200" dirty="0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8591AA19-E81D-22FD-C38C-841505992671}"/>
              </a:ext>
            </a:extLst>
          </p:cNvPr>
          <p:cNvGrpSpPr/>
          <p:nvPr/>
        </p:nvGrpSpPr>
        <p:grpSpPr>
          <a:xfrm>
            <a:off x="3520620" y="2958019"/>
            <a:ext cx="1440000" cy="1080000"/>
            <a:chOff x="3520620" y="2958019"/>
            <a:chExt cx="1440000" cy="1080000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89AB34ED-0729-1287-4D3A-A8FF6882E39C}"/>
                </a:ext>
              </a:extLst>
            </p:cNvPr>
            <p:cNvGrpSpPr/>
            <p:nvPr/>
          </p:nvGrpSpPr>
          <p:grpSpPr>
            <a:xfrm>
              <a:off x="3520620" y="2958019"/>
              <a:ext cx="1440000" cy="1080000"/>
              <a:chOff x="3075109" y="3082143"/>
              <a:chExt cx="1463040" cy="1080000"/>
            </a:xfrm>
          </p:grpSpPr>
          <p:sp>
            <p:nvSpPr>
              <p:cNvPr id="11" name="Shape 8"/>
              <p:cNvSpPr/>
              <p:nvPr/>
            </p:nvSpPr>
            <p:spPr>
              <a:xfrm>
                <a:off x="3075109" y="3082143"/>
                <a:ext cx="1463040" cy="1080000"/>
              </a:xfrm>
              <a:prstGeom prst="rect">
                <a:avLst/>
              </a:prstGeom>
              <a:solidFill>
                <a:srgbClr val="0D1B3E"/>
              </a:solidFill>
              <a:ln w="25400">
                <a:solidFill>
                  <a:srgbClr val="E67E22"/>
                </a:solidFill>
                <a:prstDash val="solid"/>
              </a:ln>
              <a:effectLst>
                <a:outerShdw blurRad="101600" dist="38100" dir="8100000" algn="bl" rotWithShape="0">
                  <a:srgbClr val="000000">
                    <a:alpha val="18000"/>
                  </a:srgbClr>
                </a:outerShdw>
              </a:effec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12" name="Text 9"/>
              <p:cNvSpPr/>
              <p:nvPr/>
            </p:nvSpPr>
            <p:spPr>
              <a:xfrm>
                <a:off x="3075109" y="3082143"/>
                <a:ext cx="1463040" cy="108000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1200" b="1" dirty="0">
                    <a:solidFill>
                      <a:srgbClr val="FFFFFF"/>
                    </a:solidFill>
                  </a:rPr>
                  <a:t>Kafka</a:t>
                </a:r>
                <a:endParaRPr lang="en-US" sz="1200" dirty="0"/>
              </a:p>
              <a:p>
                <a:pPr marL="0" indent="0" algn="ctr">
                  <a:buNone/>
                </a:pPr>
                <a:r>
                  <a:rPr lang="en-US" sz="1200" b="1" dirty="0">
                    <a:solidFill>
                      <a:srgbClr val="FFFFFF"/>
                    </a:solidFill>
                  </a:rPr>
                  <a:t>Broker</a:t>
                </a:r>
                <a:endParaRPr lang="en-US" sz="1200" dirty="0"/>
              </a:p>
            </p:txBody>
          </p:sp>
        </p:grpSp>
        <p:pic>
          <p:nvPicPr>
            <p:cNvPr id="28" name="Image 2" descr="preencoded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607743" y="3089549"/>
              <a:ext cx="342461" cy="342461"/>
            </a:xfrm>
            <a:prstGeom prst="rect">
              <a:avLst/>
            </a:prstGeom>
          </p:spPr>
        </p:pic>
      </p:grpSp>
      <p:sp>
        <p:nvSpPr>
          <p:cNvPr id="29" name="Text 24"/>
          <p:cNvSpPr/>
          <p:nvPr/>
        </p:nvSpPr>
        <p:spPr>
          <a:xfrm>
            <a:off x="274320" y="429768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899AA"/>
                </a:solidFill>
              </a:rPr>
              <a:t>DBMS ── REST  ──  Kafka  ──  SSE  ──  HTTP proxy</a:t>
            </a:r>
            <a:endParaRPr lang="en-US" sz="1400" dirty="0"/>
          </a:p>
        </p:txBody>
      </p:sp>
      <p:sp>
        <p:nvSpPr>
          <p:cNvPr id="30" name="Shape 25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6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</a:rPr>
              <a:t>Mars Automation Platform  ·  Lab Advanced Programming 2025/2026</a:t>
            </a:r>
            <a:endParaRPr lang="en-US" sz="1200" dirty="0"/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675DB041-B280-C7B6-00BD-E8C2E7790533}"/>
              </a:ext>
            </a:extLst>
          </p:cNvPr>
          <p:cNvGrpSpPr/>
          <p:nvPr/>
        </p:nvGrpSpPr>
        <p:grpSpPr>
          <a:xfrm>
            <a:off x="7475400" y="1235552"/>
            <a:ext cx="1440000" cy="1080000"/>
            <a:chOff x="228600" y="1188720"/>
            <a:chExt cx="1463040" cy="1371600"/>
          </a:xfrm>
        </p:grpSpPr>
        <p:sp>
          <p:nvSpPr>
            <p:cNvPr id="43" name="Shape 2">
              <a:extLst>
                <a:ext uri="{FF2B5EF4-FFF2-40B4-BE49-F238E27FC236}">
                  <a16:creationId xmlns:a16="http://schemas.microsoft.com/office/drawing/2014/main" id="{9C0B4D9F-275A-244C-3C2B-3BA3162AC348}"/>
                </a:ext>
              </a:extLst>
            </p:cNvPr>
            <p:cNvSpPr/>
            <p:nvPr/>
          </p:nvSpPr>
          <p:spPr>
            <a:xfrm>
              <a:off x="228600" y="1188720"/>
              <a:ext cx="1463040" cy="1371600"/>
            </a:xfrm>
            <a:prstGeom prst="rect">
              <a:avLst/>
            </a:prstGeom>
            <a:solidFill>
              <a:srgbClr val="0D1B3E"/>
            </a:solidFill>
            <a:ln w="25400">
              <a:solidFill>
                <a:srgbClr val="8899AA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8000"/>
                </a:srgbClr>
              </a:outerShdw>
            </a:effectLst>
          </p:spPr>
          <p:txBody>
            <a:bodyPr/>
            <a:lstStyle/>
            <a:p>
              <a:endParaRPr lang="en-GB"/>
            </a:p>
          </p:txBody>
        </p:sp>
        <p:sp>
          <p:nvSpPr>
            <p:cNvPr id="44" name="Text 3">
              <a:extLst>
                <a:ext uri="{FF2B5EF4-FFF2-40B4-BE49-F238E27FC236}">
                  <a16:creationId xmlns:a16="http://schemas.microsoft.com/office/drawing/2014/main" id="{03CFCB13-CEC2-91BB-E586-C1688BE46E12}"/>
                </a:ext>
              </a:extLst>
            </p:cNvPr>
            <p:cNvSpPr/>
            <p:nvPr/>
          </p:nvSpPr>
          <p:spPr>
            <a:xfrm>
              <a:off x="228600" y="1188720"/>
              <a:ext cx="1463040" cy="1371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</a:rPr>
                <a:t>Actuators</a:t>
              </a:r>
              <a:endParaRPr lang="en-US" sz="1200" dirty="0"/>
            </a:p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</a:rPr>
                <a:t>(provided)</a:t>
              </a:r>
              <a:endParaRPr lang="en-US" sz="1200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3D4FCFD-751A-5570-E830-2159F6B4A6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158676"/>
            <a:ext cx="9144000" cy="4984824"/>
          </a:xfrm>
          <a:prstGeom prst="rect">
            <a:avLst/>
          </a:prstGeom>
        </p:spPr>
      </p:pic>
      <p:sp>
        <p:nvSpPr>
          <p:cNvPr id="4" name="Shape 0">
            <a:extLst>
              <a:ext uri="{FF2B5EF4-FFF2-40B4-BE49-F238E27FC236}">
                <a16:creationId xmlns:a16="http://schemas.microsoft.com/office/drawing/2014/main" id="{6F565C79-85DE-9D6B-7192-E0B4EE9FD4BB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 anchor="ctr"/>
          <a:lstStyle/>
          <a:p>
            <a:r>
              <a:rPr lang="en-US" sz="2200" b="1" dirty="0">
                <a:solidFill>
                  <a:srgbClr val="FFFFFF"/>
                </a:solidFill>
              </a:rPr>
              <a:t>	C4 Component Diagram</a:t>
            </a:r>
            <a:endParaRPr lang="en-US" sz="2200" dirty="0"/>
          </a:p>
        </p:txBody>
      </p:sp>
      <p:pic>
        <p:nvPicPr>
          <p:cNvPr id="6" name="Image 0" descr="preencoded.png">
            <a:extLst>
              <a:ext uri="{FF2B5EF4-FFF2-40B4-BE49-F238E27FC236}">
                <a16:creationId xmlns:a16="http://schemas.microsoft.com/office/drawing/2014/main" id="{E3ED9887-FE4A-448D-F9D7-7EB7CB3049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" y="91440"/>
            <a:ext cx="4572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79490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B0F1A"/>
          </a:solidFill>
          <a:ln w="12700">
            <a:solidFill>
              <a:srgbClr val="0B0F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9144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77240" y="0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Microservices Breakdown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182880" y="822960"/>
            <a:ext cx="4206240" cy="182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ABC9C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Shape 3"/>
          <p:cNvSpPr/>
          <p:nvPr/>
        </p:nvSpPr>
        <p:spPr>
          <a:xfrm>
            <a:off x="182880" y="822960"/>
            <a:ext cx="4206240" cy="347472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4"/>
          <p:cNvSpPr/>
          <p:nvPr/>
        </p:nvSpPr>
        <p:spPr>
          <a:xfrm>
            <a:off x="274320" y="82296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ms-integration  :8080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743200" y="822960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</a:rPr>
              <a:t>Java · Spring Boot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320040" y="123444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2030"/>
                </a:solidFill>
              </a:rPr>
              <a:t>Polls 8 REST sensors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20040" y="164592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2030"/>
                </a:solidFill>
              </a:rPr>
              <a:t>Consumes 7 SSE telemetry topics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320040" y="205740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2030"/>
                </a:solidFill>
              </a:rPr>
              <a:t>Publishes normalized events</a:t>
            </a:r>
          </a:p>
        </p:txBody>
      </p:sp>
      <p:sp>
        <p:nvSpPr>
          <p:cNvPr id="12" name="Shape 9"/>
          <p:cNvSpPr/>
          <p:nvPr/>
        </p:nvSpPr>
        <p:spPr>
          <a:xfrm>
            <a:off x="4663440" y="822960"/>
            <a:ext cx="4206240" cy="182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E67E2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3" name="Shape 10"/>
          <p:cNvSpPr/>
          <p:nvPr/>
        </p:nvSpPr>
        <p:spPr>
          <a:xfrm>
            <a:off x="4663440" y="822960"/>
            <a:ext cx="4206240" cy="34747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1"/>
          <p:cNvSpPr/>
          <p:nvPr/>
        </p:nvSpPr>
        <p:spPr>
          <a:xfrm>
            <a:off x="4754880" y="82296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ms-automation  :8001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223760" y="822960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</a:rPr>
              <a:t>Python · </a:t>
            </a:r>
            <a:r>
              <a:rPr lang="en-US" sz="1200" dirty="0" err="1">
                <a:solidFill>
                  <a:srgbClr val="FFFFFF"/>
                </a:solidFill>
              </a:rPr>
              <a:t>FastAPI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800600" y="123444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2030"/>
                </a:solidFill>
              </a:rPr>
              <a:t>Consumes Kafka sensor events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800600" y="164592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2030"/>
                </a:solidFill>
              </a:rPr>
              <a:t>Evaluates IF-THEN rules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4800600" y="205740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2030"/>
                </a:solidFill>
              </a:rPr>
              <a:t>Publishes actuator commands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82880" y="2834640"/>
            <a:ext cx="4206240" cy="182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0" name="Shape 17"/>
          <p:cNvSpPr/>
          <p:nvPr/>
        </p:nvSpPr>
        <p:spPr>
          <a:xfrm>
            <a:off x="182880" y="2834640"/>
            <a:ext cx="4206240" cy="3474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8"/>
          <p:cNvSpPr/>
          <p:nvPr/>
        </p:nvSpPr>
        <p:spPr>
          <a:xfrm>
            <a:off x="274320" y="283464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ms-rulebook  :8003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2743200" y="2834640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</a:rPr>
              <a:t>Python · FastAPI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20040" y="324612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2030"/>
                </a:solidFill>
              </a:rPr>
              <a:t>CRUD API for automation rules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320040" y="365760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2030"/>
                </a:solidFill>
              </a:rPr>
              <a:t>Persists rules in PostgreSQL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4663440" y="2834640"/>
            <a:ext cx="4206240" cy="182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ABC9C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7" name="Shape 24"/>
          <p:cNvSpPr/>
          <p:nvPr/>
        </p:nvSpPr>
        <p:spPr>
          <a:xfrm>
            <a:off x="4663440" y="2834640"/>
            <a:ext cx="4206240" cy="347472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5"/>
          <p:cNvSpPr/>
          <p:nvPr/>
        </p:nvSpPr>
        <p:spPr>
          <a:xfrm>
            <a:off x="4754880" y="283464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FFFFFF"/>
                </a:solidFill>
              </a:rPr>
              <a:t>ms</a:t>
            </a:r>
            <a:r>
              <a:rPr lang="en-US" sz="1200" b="1" dirty="0">
                <a:solidFill>
                  <a:srgbClr val="FFFFFF"/>
                </a:solidFill>
              </a:rPr>
              <a:t>-actuators  :8004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7223760" y="2834640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</a:rPr>
              <a:t>Python · FastAPI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800600" y="324612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2030"/>
                </a:solidFill>
              </a:rPr>
              <a:t>Consumes actuator commands from Kafka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4800600" y="365760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2030"/>
                </a:solidFill>
              </a:rPr>
              <a:t>Calls simulator REST API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4800600" y="406908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2030"/>
                </a:solidFill>
              </a:rPr>
              <a:t>Exposes SSE stream of actuator events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1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</a:rPr>
              <a:t>Mars Automation Platform  ·  Lab Advanced Programming 2025/2026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B0F1A"/>
          </a:solidFill>
          <a:ln w="12700">
            <a:solidFill>
              <a:srgbClr val="0B0F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9144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77240" y="0"/>
            <a:ext cx="7772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Automation Engine (Python)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274320" y="822960"/>
            <a:ext cx="5029200" cy="1371600"/>
          </a:xfrm>
          <a:prstGeom prst="rect">
            <a:avLst/>
          </a:prstGeom>
          <a:solidFill>
            <a:srgbClr val="0D1B3E"/>
          </a:solidFill>
          <a:ln w="19050">
            <a:solidFill>
              <a:srgbClr val="1ABC9C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Text 3"/>
          <p:cNvSpPr/>
          <p:nvPr/>
        </p:nvSpPr>
        <p:spPr>
          <a:xfrm>
            <a:off x="457200" y="82296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BC9C"/>
                </a:solidFill>
              </a:rPr>
              <a:t>Rule Syntax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57200" y="1170432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67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&lt;sensor&gt;.&lt;metric&gt; &lt;op&gt; &lt;value&gt;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E67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THEN SET &lt;actuator&gt; TO ON|OFF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1508760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e.g.  IF </a:t>
            </a:r>
            <a:r>
              <a:rPr lang="en-US" sz="1200" dirty="0" err="1">
                <a:solidFill>
                  <a:srgbClr val="E8E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greenhouse_temperature.temperature_c</a:t>
            </a:r>
            <a:r>
              <a:rPr lang="en-US" sz="1200" dirty="0">
                <a:solidFill>
                  <a:srgbClr val="E8E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&gt; 28</a:t>
            </a:r>
            <a:br>
              <a:rPr lang="en-US" sz="1200" dirty="0">
                <a:solidFill>
                  <a:srgbClr val="E8E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</a:br>
            <a:r>
              <a:rPr lang="en-US" sz="1200" dirty="0">
                <a:solidFill>
                  <a:srgbClr val="E8E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THEN SET cooling_fan TO ON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0" y="822960"/>
            <a:ext cx="3383280" cy="1371600"/>
          </a:xfrm>
          <a:prstGeom prst="rect">
            <a:avLst/>
          </a:prstGeom>
          <a:solidFill>
            <a:srgbClr val="0D1B3E"/>
          </a:solidFill>
          <a:ln w="19050">
            <a:solidFill>
              <a:srgbClr val="E67E2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0" name="Text 7"/>
          <p:cNvSpPr/>
          <p:nvPr/>
        </p:nvSpPr>
        <p:spPr>
          <a:xfrm>
            <a:off x="5623560" y="8229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67E22"/>
                </a:solidFill>
              </a:rPr>
              <a:t>Supported Operators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23560" y="11887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   &lt;=   =   &gt;=   &gt;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5623560" y="169164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899AA"/>
                </a:solidFill>
              </a:rPr>
              <a:t>Evaluated on every sensor event arrival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28600" y="2468880"/>
            <a:ext cx="205740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8899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4" name="Shape 11"/>
          <p:cNvSpPr/>
          <p:nvPr/>
        </p:nvSpPr>
        <p:spPr>
          <a:xfrm>
            <a:off x="228600" y="2468880"/>
            <a:ext cx="64008" cy="21945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950" y="2560319"/>
            <a:ext cx="502920" cy="5029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20040" y="310896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030"/>
                </a:solidFill>
              </a:rPr>
              <a:t>Kafka Consumer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320040" y="36118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030"/>
                </a:solidFill>
              </a:rPr>
              <a:t>Consumes </a:t>
            </a:r>
            <a:r>
              <a:rPr lang="en-US" sz="1200" dirty="0" err="1">
                <a:solidFill>
                  <a:srgbClr val="1A2030"/>
                </a:solidFill>
              </a:rPr>
              <a:t>MeasurementEvents</a:t>
            </a:r>
            <a:r>
              <a:rPr lang="en-US" sz="1200" dirty="0">
                <a:solidFill>
                  <a:srgbClr val="1A2030"/>
                </a:solidFill>
              </a:rPr>
              <a:t> from the </a:t>
            </a:r>
            <a:r>
              <a:rPr lang="en-US" sz="1200" i="1" dirty="0">
                <a:solidFill>
                  <a:srgbClr val="1A2030"/>
                </a:solidFill>
              </a:rPr>
              <a:t>measurements</a:t>
            </a:r>
            <a:r>
              <a:rPr lang="en-US" sz="1200" dirty="0">
                <a:solidFill>
                  <a:srgbClr val="1A2030"/>
                </a:solidFill>
              </a:rPr>
              <a:t> Kafka topic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2286000" y="3566160"/>
            <a:ext cx="118872" cy="0"/>
          </a:xfrm>
          <a:prstGeom prst="line">
            <a:avLst/>
          </a:prstGeom>
          <a:noFill/>
          <a:ln w="254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5"/>
          <p:cNvSpPr/>
          <p:nvPr/>
        </p:nvSpPr>
        <p:spPr>
          <a:xfrm>
            <a:off x="2404872" y="2468880"/>
            <a:ext cx="205740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8899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0" name="Shape 16"/>
          <p:cNvSpPr/>
          <p:nvPr/>
        </p:nvSpPr>
        <p:spPr>
          <a:xfrm>
            <a:off x="2404872" y="2468880"/>
            <a:ext cx="64008" cy="21945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2112" y="2560320"/>
            <a:ext cx="502920" cy="50292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2496312" y="310896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030"/>
                </a:solidFill>
              </a:rPr>
              <a:t>Rule Evaluation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2496312" y="36118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030"/>
                </a:solidFill>
              </a:rPr>
              <a:t>Loads rules, matches sensor and metrics, evaluates operator &amp; threshold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4462272" y="3566160"/>
            <a:ext cx="118872" cy="0"/>
          </a:xfrm>
          <a:prstGeom prst="line">
            <a:avLst/>
          </a:prstGeom>
          <a:noFill/>
          <a:ln w="254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0"/>
          <p:cNvSpPr/>
          <p:nvPr/>
        </p:nvSpPr>
        <p:spPr>
          <a:xfrm>
            <a:off x="4581144" y="2468880"/>
            <a:ext cx="205740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8899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6" name="Shape 21"/>
          <p:cNvSpPr/>
          <p:nvPr/>
        </p:nvSpPr>
        <p:spPr>
          <a:xfrm>
            <a:off x="4581144" y="2468880"/>
            <a:ext cx="64008" cy="21945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8384" y="2560319"/>
            <a:ext cx="502920" cy="50292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4672584" y="310896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030"/>
                </a:solidFill>
              </a:rPr>
              <a:t>Kafka Producer</a:t>
            </a:r>
            <a:endParaRPr lang="en-US" sz="1200" dirty="0"/>
          </a:p>
        </p:txBody>
      </p:sp>
      <p:sp>
        <p:nvSpPr>
          <p:cNvPr id="29" name="Text 23"/>
          <p:cNvSpPr/>
          <p:nvPr/>
        </p:nvSpPr>
        <p:spPr>
          <a:xfrm>
            <a:off x="4672584" y="36118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030"/>
                </a:solidFill>
              </a:rPr>
              <a:t>Publishes </a:t>
            </a:r>
            <a:r>
              <a:rPr lang="en-US" sz="1200" dirty="0" err="1">
                <a:solidFill>
                  <a:srgbClr val="1A2030"/>
                </a:solidFill>
              </a:rPr>
              <a:t>ActuatorCommands</a:t>
            </a:r>
            <a:r>
              <a:rPr lang="en-US" sz="1200" dirty="0">
                <a:solidFill>
                  <a:srgbClr val="1A2030"/>
                </a:solidFill>
              </a:rPr>
              <a:t> to the </a:t>
            </a:r>
            <a:r>
              <a:rPr lang="en-US" sz="1200" i="1" dirty="0" err="1">
                <a:solidFill>
                  <a:srgbClr val="1A2030"/>
                </a:solidFill>
              </a:rPr>
              <a:t>actuators.automation</a:t>
            </a:r>
            <a:r>
              <a:rPr lang="en-US" sz="1200" dirty="0">
                <a:solidFill>
                  <a:srgbClr val="1A2030"/>
                </a:solidFill>
              </a:rPr>
              <a:t> Kafka topic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6638544" y="3566160"/>
            <a:ext cx="118872" cy="0"/>
          </a:xfrm>
          <a:prstGeom prst="line">
            <a:avLst/>
          </a:prstGeom>
          <a:noFill/>
          <a:ln w="254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5"/>
          <p:cNvSpPr/>
          <p:nvPr/>
        </p:nvSpPr>
        <p:spPr>
          <a:xfrm>
            <a:off x="6757416" y="2468880"/>
            <a:ext cx="205740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8899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2" name="Shape 26"/>
          <p:cNvSpPr/>
          <p:nvPr/>
        </p:nvSpPr>
        <p:spPr>
          <a:xfrm>
            <a:off x="6757416" y="2468880"/>
            <a:ext cx="64008" cy="21945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6660" y="2560319"/>
            <a:ext cx="502920" cy="502920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6848856" y="310896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030"/>
                </a:solidFill>
              </a:rPr>
              <a:t>Live Actuator Interaction</a:t>
            </a:r>
            <a:endParaRPr lang="en-US" sz="1200" dirty="0"/>
          </a:p>
        </p:txBody>
      </p:sp>
      <p:sp>
        <p:nvSpPr>
          <p:cNvPr id="35" name="Text 28"/>
          <p:cNvSpPr/>
          <p:nvPr/>
        </p:nvSpPr>
        <p:spPr>
          <a:xfrm>
            <a:off x="6848856" y="36118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i="1" dirty="0" err="1">
                <a:solidFill>
                  <a:srgbClr val="1A2030"/>
                </a:solidFill>
              </a:rPr>
              <a:t>ms</a:t>
            </a:r>
            <a:r>
              <a:rPr lang="en-US" sz="1200" i="1" dirty="0">
                <a:solidFill>
                  <a:srgbClr val="1A2030"/>
                </a:solidFill>
              </a:rPr>
              <a:t>-actuators</a:t>
            </a:r>
            <a:r>
              <a:rPr lang="en-US" sz="1200" dirty="0">
                <a:solidFill>
                  <a:srgbClr val="1A2030"/>
                </a:solidFill>
              </a:rPr>
              <a:t> service applies </a:t>
            </a:r>
            <a:r>
              <a:rPr lang="en-US" sz="1200" dirty="0" err="1">
                <a:solidFill>
                  <a:srgbClr val="1A2030"/>
                </a:solidFill>
              </a:rPr>
              <a:t>actuactor</a:t>
            </a:r>
            <a:r>
              <a:rPr lang="en-US" sz="1200" dirty="0">
                <a:solidFill>
                  <a:srgbClr val="1A2030"/>
                </a:solidFill>
              </a:rPr>
              <a:t> commands and notifies the dashboard</a:t>
            </a:r>
            <a:endParaRPr lang="en-US" sz="1200" dirty="0"/>
          </a:p>
        </p:txBody>
      </p:sp>
      <p:sp>
        <p:nvSpPr>
          <p:cNvPr id="36" name="Shape 29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0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</a:rPr>
              <a:t>Mars Automation Platform  ·  Lab Advanced Programming 2025/2026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B0F1A"/>
          </a:solidFill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9144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77240" y="0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bg1"/>
                </a:solidFill>
              </a:rPr>
              <a:t>Infrastructure &amp; DevOps</a:t>
            </a:r>
            <a:endParaRPr lang="en-US" sz="2200" dirty="0">
              <a:solidFill>
                <a:schemeClr val="bg1"/>
              </a:solidFill>
            </a:endParaRPr>
          </a:p>
        </p:txBody>
      </p:sp>
      <p:sp>
        <p:nvSpPr>
          <p:cNvPr id="5" name="Shape 2"/>
          <p:cNvSpPr/>
          <p:nvPr/>
        </p:nvSpPr>
        <p:spPr>
          <a:xfrm>
            <a:off x="137160" y="777240"/>
            <a:ext cx="2011680" cy="3200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3"/>
          <p:cNvSpPr/>
          <p:nvPr/>
        </p:nvSpPr>
        <p:spPr>
          <a:xfrm>
            <a:off x="137160" y="777240"/>
            <a:ext cx="2011680" cy="320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Service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148840" y="777240"/>
            <a:ext cx="2194560" cy="3200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2148840" y="777240"/>
            <a:ext cx="2194560" cy="320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Image / Stack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43400" y="777240"/>
            <a:ext cx="4206240" cy="3200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7"/>
          <p:cNvSpPr/>
          <p:nvPr/>
        </p:nvSpPr>
        <p:spPr>
          <a:xfrm>
            <a:off x="4343400" y="777240"/>
            <a:ext cx="4206240" cy="320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Notes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137160" y="1097280"/>
            <a:ext cx="2011680" cy="393192"/>
          </a:xfrm>
          <a:prstGeom prst="rect">
            <a:avLst/>
          </a:prstGeom>
          <a:solidFill>
            <a:srgbClr val="0D1B3E"/>
          </a:solidFill>
          <a:ln w="6350">
            <a:solidFill>
              <a:srgbClr val="1A2A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9"/>
          <p:cNvSpPr/>
          <p:nvPr/>
        </p:nvSpPr>
        <p:spPr>
          <a:xfrm>
            <a:off x="182880" y="1097280"/>
            <a:ext cx="192024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BC9C"/>
                </a:solidFill>
              </a:rPr>
              <a:t>kafka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2148840" y="1097280"/>
            <a:ext cx="2194560" cy="393192"/>
          </a:xfrm>
          <a:prstGeom prst="rect">
            <a:avLst/>
          </a:prstGeom>
          <a:solidFill>
            <a:srgbClr val="0D1B3E"/>
          </a:solidFill>
          <a:ln w="6350">
            <a:solidFill>
              <a:srgbClr val="1A2A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1"/>
          <p:cNvSpPr/>
          <p:nvPr/>
        </p:nvSpPr>
        <p:spPr>
          <a:xfrm>
            <a:off x="2194560" y="1097280"/>
            <a:ext cx="210312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CF2"/>
                </a:solidFill>
              </a:rPr>
              <a:t>apache/kafka:3.9.0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343400" y="1097280"/>
            <a:ext cx="4206240" cy="393192"/>
          </a:xfrm>
          <a:prstGeom prst="rect">
            <a:avLst/>
          </a:prstGeom>
          <a:solidFill>
            <a:srgbClr val="0D1B3E"/>
          </a:solidFill>
          <a:ln w="6350">
            <a:solidFill>
              <a:srgbClr val="1A2A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3"/>
          <p:cNvSpPr/>
          <p:nvPr/>
        </p:nvSpPr>
        <p:spPr>
          <a:xfrm>
            <a:off x="4389120" y="1097280"/>
            <a:ext cx="41148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CF2"/>
                </a:solidFill>
              </a:rPr>
              <a:t>KRaft mode, single broker, auto-create topics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137160" y="1499616"/>
            <a:ext cx="2011680" cy="393192"/>
          </a:xfrm>
          <a:prstGeom prst="rect">
            <a:avLst/>
          </a:prstGeom>
          <a:solidFill>
            <a:srgbClr val="0D1B3E"/>
          </a:solidFill>
          <a:ln w="6350">
            <a:solidFill>
              <a:srgbClr val="1A2A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5"/>
          <p:cNvSpPr/>
          <p:nvPr/>
        </p:nvSpPr>
        <p:spPr>
          <a:xfrm>
            <a:off x="182880" y="1499616"/>
            <a:ext cx="192024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BC9C"/>
                </a:solidFill>
              </a:rPr>
              <a:t>postgres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2148840" y="1499616"/>
            <a:ext cx="2194560" cy="393192"/>
          </a:xfrm>
          <a:prstGeom prst="rect">
            <a:avLst/>
          </a:prstGeom>
          <a:solidFill>
            <a:srgbClr val="0D1B3E"/>
          </a:solidFill>
          <a:ln w="6350">
            <a:solidFill>
              <a:srgbClr val="1A2A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7"/>
          <p:cNvSpPr/>
          <p:nvPr/>
        </p:nvSpPr>
        <p:spPr>
          <a:xfrm>
            <a:off x="2194560" y="1499616"/>
            <a:ext cx="210312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CF2"/>
                </a:solidFill>
              </a:rPr>
              <a:t>postgres:16-alpine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343400" y="1499616"/>
            <a:ext cx="4206240" cy="393192"/>
          </a:xfrm>
          <a:prstGeom prst="rect">
            <a:avLst/>
          </a:prstGeom>
          <a:solidFill>
            <a:srgbClr val="0D1B3E"/>
          </a:solidFill>
          <a:ln w="6350">
            <a:solidFill>
              <a:srgbClr val="1A2A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19"/>
          <p:cNvSpPr/>
          <p:nvPr/>
        </p:nvSpPr>
        <p:spPr>
          <a:xfrm>
            <a:off x="4389120" y="1499616"/>
            <a:ext cx="41148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CF2"/>
                </a:solidFill>
              </a:rPr>
              <a:t>Persists automation rules; init scripts in /source/postgres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137160" y="1901952"/>
            <a:ext cx="2011680" cy="393192"/>
          </a:xfrm>
          <a:prstGeom prst="rect">
            <a:avLst/>
          </a:prstGeom>
          <a:solidFill>
            <a:srgbClr val="0D1B3E"/>
          </a:solidFill>
          <a:ln w="6350">
            <a:solidFill>
              <a:srgbClr val="1A2A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1"/>
          <p:cNvSpPr/>
          <p:nvPr/>
        </p:nvSpPr>
        <p:spPr>
          <a:xfrm>
            <a:off x="182880" y="1901952"/>
            <a:ext cx="192024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BC9C"/>
                </a:solidFill>
              </a:rPr>
              <a:t>simulator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2148840" y="1901952"/>
            <a:ext cx="2194560" cy="393192"/>
          </a:xfrm>
          <a:prstGeom prst="rect">
            <a:avLst/>
          </a:prstGeom>
          <a:solidFill>
            <a:srgbClr val="0D1B3E"/>
          </a:solidFill>
          <a:ln w="6350">
            <a:solidFill>
              <a:srgbClr val="1A2A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3"/>
          <p:cNvSpPr/>
          <p:nvPr/>
        </p:nvSpPr>
        <p:spPr>
          <a:xfrm>
            <a:off x="2194560" y="1901952"/>
            <a:ext cx="210312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CF2"/>
                </a:solidFill>
              </a:rPr>
              <a:t>mars-iot-simulator:v1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343400" y="1901952"/>
            <a:ext cx="4206240" cy="393192"/>
          </a:xfrm>
          <a:prstGeom prst="rect">
            <a:avLst/>
          </a:prstGeom>
          <a:solidFill>
            <a:srgbClr val="0D1B3E"/>
          </a:solidFill>
          <a:ln w="6350">
            <a:solidFill>
              <a:srgbClr val="1A2A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5"/>
          <p:cNvSpPr/>
          <p:nvPr/>
        </p:nvSpPr>
        <p:spPr>
          <a:xfrm>
            <a:off x="4389120" y="1901952"/>
            <a:ext cx="41148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CF2"/>
                </a:solidFill>
              </a:rPr>
              <a:t>Provided — must not be modified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137160" y="2304288"/>
            <a:ext cx="2011680" cy="393192"/>
          </a:xfrm>
          <a:prstGeom prst="rect">
            <a:avLst/>
          </a:prstGeom>
          <a:solidFill>
            <a:srgbClr val="0D1B3E"/>
          </a:solidFill>
          <a:ln w="6350">
            <a:solidFill>
              <a:srgbClr val="1A2A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7"/>
          <p:cNvSpPr/>
          <p:nvPr/>
        </p:nvSpPr>
        <p:spPr>
          <a:xfrm>
            <a:off x="182880" y="2304288"/>
            <a:ext cx="192024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BC9C"/>
                </a:solidFill>
              </a:rPr>
              <a:t>ms-integration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2148840" y="2304288"/>
            <a:ext cx="2194560" cy="393192"/>
          </a:xfrm>
          <a:prstGeom prst="rect">
            <a:avLst/>
          </a:prstGeom>
          <a:solidFill>
            <a:srgbClr val="0D1B3E"/>
          </a:solidFill>
          <a:ln w="6350">
            <a:solidFill>
              <a:srgbClr val="1A2A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29"/>
          <p:cNvSpPr/>
          <p:nvPr/>
        </p:nvSpPr>
        <p:spPr>
          <a:xfrm>
            <a:off x="2194560" y="2304288"/>
            <a:ext cx="210312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CF2"/>
                </a:solidFill>
              </a:rPr>
              <a:t>Java · Spring Boot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4343400" y="2304288"/>
            <a:ext cx="4206240" cy="393192"/>
          </a:xfrm>
          <a:prstGeom prst="rect">
            <a:avLst/>
          </a:prstGeom>
          <a:solidFill>
            <a:srgbClr val="0D1B3E"/>
          </a:solidFill>
          <a:ln w="6350">
            <a:solidFill>
              <a:srgbClr val="1A2A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1"/>
          <p:cNvSpPr/>
          <p:nvPr/>
        </p:nvSpPr>
        <p:spPr>
          <a:xfrm>
            <a:off x="4389120" y="2304288"/>
            <a:ext cx="41148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CF2"/>
                </a:solidFill>
              </a:rPr>
              <a:t>Polls REST + SSE telemetry → Kafka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137160" y="2706624"/>
            <a:ext cx="2011680" cy="393192"/>
          </a:xfrm>
          <a:prstGeom prst="rect">
            <a:avLst/>
          </a:prstGeom>
          <a:solidFill>
            <a:srgbClr val="0D1B3E"/>
          </a:solidFill>
          <a:ln w="6350">
            <a:solidFill>
              <a:srgbClr val="1A2A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3"/>
          <p:cNvSpPr/>
          <p:nvPr/>
        </p:nvSpPr>
        <p:spPr>
          <a:xfrm>
            <a:off x="182880" y="2706624"/>
            <a:ext cx="192024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BC9C"/>
                </a:solidFill>
              </a:rPr>
              <a:t>ms-automation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2148840" y="2706624"/>
            <a:ext cx="2194560" cy="393192"/>
          </a:xfrm>
          <a:prstGeom prst="rect">
            <a:avLst/>
          </a:prstGeom>
          <a:solidFill>
            <a:srgbClr val="0D1B3E"/>
          </a:solidFill>
          <a:ln w="6350">
            <a:solidFill>
              <a:srgbClr val="1A2A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5"/>
          <p:cNvSpPr/>
          <p:nvPr/>
        </p:nvSpPr>
        <p:spPr>
          <a:xfrm>
            <a:off x="2194560" y="2706624"/>
            <a:ext cx="210312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CF2"/>
                </a:solidFill>
              </a:rPr>
              <a:t>Python · </a:t>
            </a:r>
            <a:r>
              <a:rPr lang="en-US" sz="1200" dirty="0" err="1">
                <a:solidFill>
                  <a:srgbClr val="E8ECF2"/>
                </a:solidFill>
              </a:rPr>
              <a:t>FastAPI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4343400" y="2706624"/>
            <a:ext cx="4206240" cy="393192"/>
          </a:xfrm>
          <a:prstGeom prst="rect">
            <a:avLst/>
          </a:prstGeom>
          <a:solidFill>
            <a:srgbClr val="0D1B3E"/>
          </a:solidFill>
          <a:ln w="6350">
            <a:solidFill>
              <a:srgbClr val="1A2A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7"/>
          <p:cNvSpPr/>
          <p:nvPr/>
        </p:nvSpPr>
        <p:spPr>
          <a:xfrm>
            <a:off x="4389120" y="2706624"/>
            <a:ext cx="41148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CF2"/>
                </a:solidFill>
              </a:rPr>
              <a:t>Rule engine; consumes/produces Kafka; REST + SSE out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137160" y="3108960"/>
            <a:ext cx="2011680" cy="393192"/>
          </a:xfrm>
          <a:prstGeom prst="rect">
            <a:avLst/>
          </a:prstGeom>
          <a:solidFill>
            <a:srgbClr val="0D1B3E"/>
          </a:solidFill>
          <a:ln w="6350">
            <a:solidFill>
              <a:srgbClr val="1A2A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39"/>
          <p:cNvSpPr/>
          <p:nvPr/>
        </p:nvSpPr>
        <p:spPr>
          <a:xfrm>
            <a:off x="182880" y="3108960"/>
            <a:ext cx="192024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BC9C"/>
                </a:solidFill>
              </a:rPr>
              <a:t>ms-rulebook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2148840" y="3108960"/>
            <a:ext cx="2194560" cy="393192"/>
          </a:xfrm>
          <a:prstGeom prst="rect">
            <a:avLst/>
          </a:prstGeom>
          <a:solidFill>
            <a:srgbClr val="0D1B3E"/>
          </a:solidFill>
          <a:ln w="6350">
            <a:solidFill>
              <a:srgbClr val="1A2A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41"/>
          <p:cNvSpPr/>
          <p:nvPr/>
        </p:nvSpPr>
        <p:spPr>
          <a:xfrm>
            <a:off x="2194560" y="3108960"/>
            <a:ext cx="210312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CF2"/>
                </a:solidFill>
              </a:rPr>
              <a:t>Python · FastAPI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4343400" y="3108960"/>
            <a:ext cx="4206240" cy="393192"/>
          </a:xfrm>
          <a:prstGeom prst="rect">
            <a:avLst/>
          </a:prstGeom>
          <a:solidFill>
            <a:srgbClr val="0D1B3E"/>
          </a:solidFill>
          <a:ln w="6350">
            <a:solidFill>
              <a:srgbClr val="1A2A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Text 43"/>
          <p:cNvSpPr/>
          <p:nvPr/>
        </p:nvSpPr>
        <p:spPr>
          <a:xfrm>
            <a:off x="4389120" y="3108960"/>
            <a:ext cx="41148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CF2"/>
                </a:solidFill>
              </a:rPr>
              <a:t>CRUD rules API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137160" y="3511296"/>
            <a:ext cx="2011680" cy="393192"/>
          </a:xfrm>
          <a:prstGeom prst="rect">
            <a:avLst/>
          </a:prstGeom>
          <a:solidFill>
            <a:srgbClr val="0D1B3E"/>
          </a:solidFill>
          <a:ln w="6350">
            <a:solidFill>
              <a:srgbClr val="1A2A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Text 45"/>
          <p:cNvSpPr/>
          <p:nvPr/>
        </p:nvSpPr>
        <p:spPr>
          <a:xfrm>
            <a:off x="182880" y="3511296"/>
            <a:ext cx="192024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1ABC9C"/>
                </a:solidFill>
              </a:rPr>
              <a:t>ms</a:t>
            </a:r>
            <a:r>
              <a:rPr lang="en-US" sz="1200" b="1" dirty="0">
                <a:solidFill>
                  <a:srgbClr val="1ABC9C"/>
                </a:solidFill>
              </a:rPr>
              <a:t>-actuators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2148840" y="3511296"/>
            <a:ext cx="2194560" cy="393192"/>
          </a:xfrm>
          <a:prstGeom prst="rect">
            <a:avLst/>
          </a:prstGeom>
          <a:solidFill>
            <a:srgbClr val="0D1B3E"/>
          </a:solidFill>
          <a:ln w="6350">
            <a:solidFill>
              <a:srgbClr val="1A2A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Text 47"/>
          <p:cNvSpPr/>
          <p:nvPr/>
        </p:nvSpPr>
        <p:spPr>
          <a:xfrm>
            <a:off x="2194560" y="3511296"/>
            <a:ext cx="210312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CF2"/>
                </a:solidFill>
              </a:rPr>
              <a:t>Python · FastAPI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4343400" y="3511296"/>
            <a:ext cx="4206240" cy="393192"/>
          </a:xfrm>
          <a:prstGeom prst="rect">
            <a:avLst/>
          </a:prstGeom>
          <a:solidFill>
            <a:srgbClr val="0D1B3E"/>
          </a:solidFill>
          <a:ln w="6350">
            <a:solidFill>
              <a:srgbClr val="1A2A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Text 49"/>
          <p:cNvSpPr/>
          <p:nvPr/>
        </p:nvSpPr>
        <p:spPr>
          <a:xfrm>
            <a:off x="4389120" y="3511296"/>
            <a:ext cx="41148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CF2"/>
                </a:solidFill>
              </a:rPr>
              <a:t>Kafka consumer → simulator REST; SSE stream out</a:t>
            </a:r>
            <a:endParaRPr lang="en-US" sz="1200" dirty="0"/>
          </a:p>
        </p:txBody>
      </p:sp>
      <p:sp>
        <p:nvSpPr>
          <p:cNvPr id="53" name="Shape 50"/>
          <p:cNvSpPr/>
          <p:nvPr/>
        </p:nvSpPr>
        <p:spPr>
          <a:xfrm>
            <a:off x="137160" y="3913632"/>
            <a:ext cx="2011680" cy="393192"/>
          </a:xfrm>
          <a:prstGeom prst="rect">
            <a:avLst/>
          </a:prstGeom>
          <a:solidFill>
            <a:srgbClr val="0D1B3E"/>
          </a:solidFill>
          <a:ln w="6350">
            <a:solidFill>
              <a:srgbClr val="1A2A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Text 51"/>
          <p:cNvSpPr/>
          <p:nvPr/>
        </p:nvSpPr>
        <p:spPr>
          <a:xfrm>
            <a:off x="182880" y="3913632"/>
            <a:ext cx="192024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BC9C"/>
                </a:solidFill>
              </a:rPr>
              <a:t>frontend</a:t>
            </a:r>
            <a:endParaRPr lang="en-US" sz="1200" dirty="0"/>
          </a:p>
        </p:txBody>
      </p:sp>
      <p:sp>
        <p:nvSpPr>
          <p:cNvPr id="55" name="Shape 52"/>
          <p:cNvSpPr/>
          <p:nvPr/>
        </p:nvSpPr>
        <p:spPr>
          <a:xfrm>
            <a:off x="2148840" y="3913632"/>
            <a:ext cx="2194560" cy="393192"/>
          </a:xfrm>
          <a:prstGeom prst="rect">
            <a:avLst/>
          </a:prstGeom>
          <a:solidFill>
            <a:srgbClr val="0D1B3E"/>
          </a:solidFill>
          <a:ln w="6350">
            <a:solidFill>
              <a:srgbClr val="1A2A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Text 53"/>
          <p:cNvSpPr/>
          <p:nvPr/>
        </p:nvSpPr>
        <p:spPr>
          <a:xfrm>
            <a:off x="2194560" y="3913632"/>
            <a:ext cx="210312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CF2"/>
                </a:solidFill>
              </a:rPr>
              <a:t>Node (React build)</a:t>
            </a:r>
            <a:endParaRPr lang="en-US" sz="1200" dirty="0"/>
          </a:p>
        </p:txBody>
      </p:sp>
      <p:sp>
        <p:nvSpPr>
          <p:cNvPr id="57" name="Shape 54"/>
          <p:cNvSpPr/>
          <p:nvPr/>
        </p:nvSpPr>
        <p:spPr>
          <a:xfrm>
            <a:off x="4343400" y="3913632"/>
            <a:ext cx="4206240" cy="393192"/>
          </a:xfrm>
          <a:prstGeom prst="rect">
            <a:avLst/>
          </a:prstGeom>
          <a:solidFill>
            <a:srgbClr val="0D1B3E"/>
          </a:solidFill>
          <a:ln w="6350">
            <a:solidFill>
              <a:srgbClr val="1A2A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5"/>
          <p:cNvSpPr/>
          <p:nvPr/>
        </p:nvSpPr>
        <p:spPr>
          <a:xfrm>
            <a:off x="4389120" y="3913632"/>
            <a:ext cx="41148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CF2"/>
                </a:solidFill>
              </a:rPr>
              <a:t>SPA served on :3001 internally, proxied by Nginx</a:t>
            </a:r>
            <a:endParaRPr lang="en-US" sz="1200" dirty="0"/>
          </a:p>
        </p:txBody>
      </p:sp>
      <p:sp>
        <p:nvSpPr>
          <p:cNvPr id="59" name="Shape 56"/>
          <p:cNvSpPr/>
          <p:nvPr/>
        </p:nvSpPr>
        <p:spPr>
          <a:xfrm>
            <a:off x="137160" y="4315968"/>
            <a:ext cx="2011680" cy="393192"/>
          </a:xfrm>
          <a:prstGeom prst="rect">
            <a:avLst/>
          </a:prstGeom>
          <a:solidFill>
            <a:srgbClr val="0D1B3E"/>
          </a:solidFill>
          <a:ln w="6350">
            <a:solidFill>
              <a:srgbClr val="1A2A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Text 57"/>
          <p:cNvSpPr/>
          <p:nvPr/>
        </p:nvSpPr>
        <p:spPr>
          <a:xfrm>
            <a:off x="182880" y="4315968"/>
            <a:ext cx="192024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BC9C"/>
                </a:solidFill>
              </a:rPr>
              <a:t>nginx</a:t>
            </a:r>
            <a:endParaRPr lang="en-US" sz="1200" dirty="0"/>
          </a:p>
        </p:txBody>
      </p:sp>
      <p:sp>
        <p:nvSpPr>
          <p:cNvPr id="61" name="Shape 58"/>
          <p:cNvSpPr/>
          <p:nvPr/>
        </p:nvSpPr>
        <p:spPr>
          <a:xfrm>
            <a:off x="2148840" y="4315968"/>
            <a:ext cx="2194560" cy="393192"/>
          </a:xfrm>
          <a:prstGeom prst="rect">
            <a:avLst/>
          </a:prstGeom>
          <a:solidFill>
            <a:srgbClr val="0D1B3E"/>
          </a:solidFill>
          <a:ln w="6350">
            <a:solidFill>
              <a:srgbClr val="1A2A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Text 59"/>
          <p:cNvSpPr/>
          <p:nvPr/>
        </p:nvSpPr>
        <p:spPr>
          <a:xfrm>
            <a:off x="2194560" y="4315968"/>
            <a:ext cx="210312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CF2"/>
                </a:solidFill>
              </a:rPr>
              <a:t>nginx:1.25-alpine</a:t>
            </a:r>
            <a:endParaRPr lang="en-US" sz="1200" dirty="0"/>
          </a:p>
        </p:txBody>
      </p:sp>
      <p:sp>
        <p:nvSpPr>
          <p:cNvPr id="63" name="Shape 60"/>
          <p:cNvSpPr/>
          <p:nvPr/>
        </p:nvSpPr>
        <p:spPr>
          <a:xfrm>
            <a:off x="4343400" y="4315968"/>
            <a:ext cx="4206240" cy="393192"/>
          </a:xfrm>
          <a:prstGeom prst="rect">
            <a:avLst/>
          </a:prstGeom>
          <a:solidFill>
            <a:srgbClr val="0D1B3E"/>
          </a:solidFill>
          <a:ln w="6350">
            <a:solidFill>
              <a:srgbClr val="1A2A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Text 61"/>
          <p:cNvSpPr/>
          <p:nvPr/>
        </p:nvSpPr>
        <p:spPr>
          <a:xfrm>
            <a:off x="4389120" y="4315968"/>
            <a:ext cx="41148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CF2"/>
                </a:solidFill>
              </a:rPr>
              <a:t>API gateway on :80; routes rules/actuators/integration/SPA</a:t>
            </a:r>
            <a:endParaRPr lang="en-US" sz="1200" dirty="0"/>
          </a:p>
        </p:txBody>
      </p:sp>
      <p:sp>
        <p:nvSpPr>
          <p:cNvPr id="65" name="Shape 6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6" name="Text 63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</a:rPr>
              <a:t>Mars Automation Platform  ·  Lab Advanced Programming 2025/2026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B0F1A"/>
          </a:solidFill>
          <a:ln w="12700">
            <a:solidFill>
              <a:srgbClr val="0B0F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9144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77240" y="0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Nginx API Gateway &amp; Routing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182880" y="822960"/>
            <a:ext cx="1828800" cy="3931920"/>
          </a:xfrm>
          <a:prstGeom prst="rect">
            <a:avLst/>
          </a:prstGeom>
          <a:solidFill>
            <a:srgbClr val="0D1B3E"/>
          </a:solidFill>
          <a:ln w="25400">
            <a:solidFill>
              <a:srgbClr val="E67E2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914400"/>
            <a:ext cx="731520" cy="7315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82880" y="16916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Nginx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:80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182880" y="228600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899AA"/>
                </a:solidFill>
              </a:rPr>
              <a:t>Single public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8899AA"/>
                </a:solidFill>
              </a:rPr>
              <a:t>entry point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8899AA"/>
                </a:solidFill>
              </a:rPr>
              <a:t>gzip + SSE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8899AA"/>
                </a:solidFill>
              </a:rPr>
              <a:t>buffering config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2011680" y="1234440"/>
            <a:ext cx="365760" cy="0"/>
          </a:xfrm>
          <a:prstGeom prst="line">
            <a:avLst/>
          </a:prstGeom>
          <a:noFill/>
          <a:ln w="254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6"/>
          <p:cNvSpPr/>
          <p:nvPr/>
        </p:nvSpPr>
        <p:spPr>
          <a:xfrm>
            <a:off x="2377440" y="914400"/>
            <a:ext cx="649224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1ABC9C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1" name="Shape 7"/>
          <p:cNvSpPr/>
          <p:nvPr/>
        </p:nvSpPr>
        <p:spPr>
          <a:xfrm>
            <a:off x="2377440" y="914400"/>
            <a:ext cx="64008" cy="658368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8"/>
          <p:cNvSpPr/>
          <p:nvPr/>
        </p:nvSpPr>
        <p:spPr>
          <a:xfrm>
            <a:off x="2514600" y="941832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0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/api/rules/*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2514600" y="1252728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ms-rulebook:8003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5760720" y="1005840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A2030"/>
                </a:solidFill>
              </a:rPr>
              <a:t>CRUD rule management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2011680" y="1984248"/>
            <a:ext cx="365760" cy="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2"/>
          <p:cNvSpPr/>
          <p:nvPr/>
        </p:nvSpPr>
        <p:spPr>
          <a:xfrm>
            <a:off x="2377440" y="1664208"/>
            <a:ext cx="649224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7" name="Shape 13"/>
          <p:cNvSpPr/>
          <p:nvPr/>
        </p:nvSpPr>
        <p:spPr>
          <a:xfrm>
            <a:off x="2377440" y="1664208"/>
            <a:ext cx="64008" cy="65836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4"/>
          <p:cNvSpPr/>
          <p:nvPr/>
        </p:nvSpPr>
        <p:spPr>
          <a:xfrm>
            <a:off x="2514600" y="169164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0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/api/actuators/stream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2514600" y="2002536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ms-actuators:8004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5760720" y="1755648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A2030"/>
                </a:solidFill>
              </a:rPr>
              <a:t>SSE stream (buffering OFF)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2011680" y="2734056"/>
            <a:ext cx="365760" cy="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18"/>
          <p:cNvSpPr/>
          <p:nvPr/>
        </p:nvSpPr>
        <p:spPr>
          <a:xfrm>
            <a:off x="2377440" y="2414016"/>
            <a:ext cx="649224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3" name="Shape 19"/>
          <p:cNvSpPr/>
          <p:nvPr/>
        </p:nvSpPr>
        <p:spPr>
          <a:xfrm>
            <a:off x="2377440" y="2414016"/>
            <a:ext cx="64008" cy="65836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0"/>
          <p:cNvSpPr/>
          <p:nvPr/>
        </p:nvSpPr>
        <p:spPr>
          <a:xfrm>
            <a:off x="2514600" y="2441448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0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/api/actuators/*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2514600" y="2752344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ms-actuators:8004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5760720" y="2505456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A2030"/>
                </a:solidFill>
              </a:rPr>
              <a:t>Manual actuator control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2011680" y="3483864"/>
            <a:ext cx="365760" cy="0"/>
          </a:xfrm>
          <a:prstGeom prst="line">
            <a:avLst/>
          </a:prstGeom>
          <a:noFill/>
          <a:ln w="254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4"/>
          <p:cNvSpPr/>
          <p:nvPr/>
        </p:nvSpPr>
        <p:spPr>
          <a:xfrm>
            <a:off x="2377440" y="3163824"/>
            <a:ext cx="649224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E67E2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9" name="Shape 25"/>
          <p:cNvSpPr/>
          <p:nvPr/>
        </p:nvSpPr>
        <p:spPr>
          <a:xfrm>
            <a:off x="2377440" y="3163824"/>
            <a:ext cx="64008" cy="65836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6"/>
          <p:cNvSpPr/>
          <p:nvPr/>
        </p:nvSpPr>
        <p:spPr>
          <a:xfrm>
            <a:off x="2514600" y="3191256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0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/api/integration/*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2514600" y="3502152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ms-integration:8080</a:t>
            </a:r>
            <a:endParaRPr lang="en-US" sz="1200" dirty="0"/>
          </a:p>
        </p:txBody>
      </p:sp>
      <p:sp>
        <p:nvSpPr>
          <p:cNvPr id="32" name="Text 28"/>
          <p:cNvSpPr/>
          <p:nvPr/>
        </p:nvSpPr>
        <p:spPr>
          <a:xfrm>
            <a:off x="5760720" y="3255264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A2030"/>
                </a:solidFill>
              </a:rPr>
              <a:t>Sensor state &amp; polling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2011680" y="4233672"/>
            <a:ext cx="365760" cy="0"/>
          </a:xfrm>
          <a:prstGeom prst="line">
            <a:avLst/>
          </a:prstGeom>
          <a:noFill/>
          <a:ln w="254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0"/>
          <p:cNvSpPr/>
          <p:nvPr/>
        </p:nvSpPr>
        <p:spPr>
          <a:xfrm>
            <a:off x="2377440" y="3913632"/>
            <a:ext cx="649224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1ABC9C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5" name="Shape 31"/>
          <p:cNvSpPr/>
          <p:nvPr/>
        </p:nvSpPr>
        <p:spPr>
          <a:xfrm>
            <a:off x="2377440" y="3913632"/>
            <a:ext cx="64008" cy="658368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2"/>
          <p:cNvSpPr/>
          <p:nvPr/>
        </p:nvSpPr>
        <p:spPr>
          <a:xfrm>
            <a:off x="2514600" y="3941064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0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 (catch-all)</a:t>
            </a:r>
            <a:endParaRPr lang="en-US" sz="1200" dirty="0"/>
          </a:p>
        </p:txBody>
      </p:sp>
      <p:sp>
        <p:nvSpPr>
          <p:cNvPr id="37" name="Text 33"/>
          <p:cNvSpPr/>
          <p:nvPr/>
        </p:nvSpPr>
        <p:spPr>
          <a:xfrm>
            <a:off x="2514600" y="4251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frontend:3000</a:t>
            </a:r>
            <a:endParaRPr lang="en-US" sz="1200" dirty="0"/>
          </a:p>
        </p:txBody>
      </p:sp>
      <p:sp>
        <p:nvSpPr>
          <p:cNvPr id="38" name="Text 34"/>
          <p:cNvSpPr/>
          <p:nvPr/>
        </p:nvSpPr>
        <p:spPr>
          <a:xfrm>
            <a:off x="5760720" y="4005072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A2030"/>
                </a:solidFill>
              </a:rPr>
              <a:t>React SPA + WS upgrade</a:t>
            </a:r>
            <a:endParaRPr lang="en-US" sz="1200" dirty="0"/>
          </a:p>
        </p:txBody>
      </p:sp>
      <p:sp>
        <p:nvSpPr>
          <p:cNvPr id="39" name="Shape 35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6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</a:rPr>
              <a:t>Mars Automation Platform  ·  Lab Advanced Programming 2025/2026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9144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77240" y="0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Technology Stack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182880" y="822960"/>
            <a:ext cx="2788920" cy="3931920"/>
          </a:xfrm>
          <a:prstGeom prst="rect">
            <a:avLst/>
          </a:prstGeom>
          <a:solidFill>
            <a:srgbClr val="0D1B3E"/>
          </a:solidFill>
          <a:ln w="19050">
            <a:solidFill>
              <a:srgbClr val="E67E2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Shape 3"/>
          <p:cNvSpPr/>
          <p:nvPr/>
        </p:nvSpPr>
        <p:spPr>
          <a:xfrm>
            <a:off x="182880" y="822960"/>
            <a:ext cx="2788920" cy="7315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3020" y="987552"/>
            <a:ext cx="548640" cy="5486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82880" y="1508760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Backend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320040" y="196596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8ECF2"/>
                </a:solidFill>
              </a:rPr>
              <a:t>Java 21 + Spring Boot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320040" y="2441448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8ECF2"/>
                </a:solidFill>
              </a:rPr>
              <a:t>Python 3.12 + </a:t>
            </a:r>
            <a:r>
              <a:rPr lang="en-US" sz="1400" dirty="0" err="1">
                <a:solidFill>
                  <a:srgbClr val="E8ECF2"/>
                </a:solidFill>
              </a:rPr>
              <a:t>FastAPI</a:t>
            </a:r>
            <a:r>
              <a:rPr lang="en-US" sz="1400" dirty="0">
                <a:solidFill>
                  <a:srgbClr val="E8ECF2"/>
                </a:solidFill>
              </a:rPr>
              <a:t> (×3)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320040" y="291693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8ECF2"/>
                </a:solidFill>
              </a:rPr>
              <a:t>Spring Kafka (Java)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320040" y="3392424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 err="1">
                <a:solidFill>
                  <a:srgbClr val="E8ECF2"/>
                </a:solidFill>
              </a:rPr>
              <a:t>AIOKafka</a:t>
            </a:r>
            <a:r>
              <a:rPr lang="en-US" sz="1400" dirty="0">
                <a:solidFill>
                  <a:srgbClr val="E8ECF2"/>
                </a:solidFill>
              </a:rPr>
              <a:t> (Python)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320040" y="386791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3154680" y="818388"/>
            <a:ext cx="2788920" cy="3931920"/>
          </a:xfrm>
          <a:prstGeom prst="rect">
            <a:avLst/>
          </a:prstGeom>
          <a:solidFill>
            <a:srgbClr val="0D1B3E"/>
          </a:solidFill>
          <a:ln w="19050">
            <a:solidFill>
              <a:srgbClr val="E67E2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5" name="Shape 11"/>
          <p:cNvSpPr/>
          <p:nvPr/>
        </p:nvSpPr>
        <p:spPr>
          <a:xfrm>
            <a:off x="3154680" y="822960"/>
            <a:ext cx="2788920" cy="7315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7680" y="987552"/>
            <a:ext cx="548640" cy="5486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154680" y="1508760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Messaging &amp; Storage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291840" y="196596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8ECF2"/>
                </a:solidFill>
              </a:rPr>
              <a:t>Apache Kafka 3.9 (KRaft)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3291840" y="2441448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8ECF2"/>
                </a:solidFill>
              </a:rPr>
              <a:t>PostgreSQL 16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3291840" y="291693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8ECF2"/>
                </a:solidFill>
              </a:rPr>
              <a:t>In-memory sensor state cache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3291840" y="3392424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8ECF2"/>
                </a:solidFill>
              </a:rPr>
              <a:t>SSE streams (native HTTP)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3291840" y="386791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6126480" y="822960"/>
            <a:ext cx="2788920" cy="3931920"/>
          </a:xfrm>
          <a:prstGeom prst="rect">
            <a:avLst/>
          </a:prstGeom>
          <a:solidFill>
            <a:srgbClr val="0D1B3E"/>
          </a:solidFill>
          <a:ln w="19050">
            <a:solidFill>
              <a:srgbClr val="E67E2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4" name="Shape 19"/>
          <p:cNvSpPr/>
          <p:nvPr/>
        </p:nvSpPr>
        <p:spPr>
          <a:xfrm>
            <a:off x="6126480" y="822960"/>
            <a:ext cx="2788920" cy="7315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69480" y="987552"/>
            <a:ext cx="548640" cy="54864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126480" y="1508760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Frontend &amp; Gateway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6263640" y="196596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8ECF2"/>
                </a:solidFill>
              </a:rPr>
              <a:t>React SPA</a:t>
            </a:r>
            <a:endParaRPr lang="en-US" sz="1400" dirty="0"/>
          </a:p>
        </p:txBody>
      </p:sp>
      <p:sp>
        <p:nvSpPr>
          <p:cNvPr id="28" name="Text 22"/>
          <p:cNvSpPr/>
          <p:nvPr/>
        </p:nvSpPr>
        <p:spPr>
          <a:xfrm>
            <a:off x="6263640" y="2441448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8ECF2"/>
                </a:solidFill>
              </a:rPr>
              <a:t>nginx 1.25-alpine API gateway</a:t>
            </a:r>
            <a:endParaRPr lang="en-US" sz="1400" dirty="0"/>
          </a:p>
        </p:txBody>
      </p:sp>
      <p:sp>
        <p:nvSpPr>
          <p:cNvPr id="29" name="Text 23"/>
          <p:cNvSpPr/>
          <p:nvPr/>
        </p:nvSpPr>
        <p:spPr>
          <a:xfrm>
            <a:off x="6263640" y="291693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8ECF2"/>
                </a:solidFill>
              </a:rPr>
              <a:t>SSE for real-time updates</a:t>
            </a:r>
            <a:endParaRPr lang="en-US" sz="1400" dirty="0"/>
          </a:p>
        </p:txBody>
      </p:sp>
      <p:sp>
        <p:nvSpPr>
          <p:cNvPr id="30" name="Text 24"/>
          <p:cNvSpPr/>
          <p:nvPr/>
        </p:nvSpPr>
        <p:spPr>
          <a:xfrm>
            <a:off x="6263640" y="3392424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8ECF2"/>
                </a:solidFill>
              </a:rPr>
              <a:t>REST for rule management</a:t>
            </a:r>
            <a:endParaRPr lang="en-US" sz="1400" dirty="0"/>
          </a:p>
        </p:txBody>
      </p:sp>
      <p:sp>
        <p:nvSpPr>
          <p:cNvPr id="31" name="Text 25"/>
          <p:cNvSpPr/>
          <p:nvPr/>
        </p:nvSpPr>
        <p:spPr>
          <a:xfrm>
            <a:off x="6263640" y="386791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8ECF2"/>
                </a:solidFill>
              </a:rPr>
              <a:t>Docker Compose IaC</a:t>
            </a:r>
            <a:endParaRPr lang="en-US" sz="1400" dirty="0"/>
          </a:p>
        </p:txBody>
      </p:sp>
      <p:sp>
        <p:nvSpPr>
          <p:cNvPr id="32" name="Shape 26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27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</a:rPr>
              <a:t>Mars Automation Platform  ·  Lab Advanced Programming 2025/2026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B0F1A"/>
          </a:solidFill>
          <a:ln w="12700">
            <a:solidFill>
              <a:srgbClr val="0B0F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109728"/>
            <a:ext cx="438912" cy="43891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77240" y="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User Stories — Dashboard &amp; Monitoring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228600" y="768096"/>
            <a:ext cx="2011680" cy="219456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3"/>
          <p:cNvSpPr/>
          <p:nvPr/>
        </p:nvSpPr>
        <p:spPr>
          <a:xfrm>
            <a:off x="228600" y="768096"/>
            <a:ext cx="2011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Operator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560320" y="768096"/>
            <a:ext cx="2011680" cy="219456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2560320" y="768096"/>
            <a:ext cx="2011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Administrator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892040" y="768096"/>
            <a:ext cx="2011680" cy="21945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7"/>
          <p:cNvSpPr/>
          <p:nvPr/>
        </p:nvSpPr>
        <p:spPr>
          <a:xfrm>
            <a:off x="4892040" y="768096"/>
            <a:ext cx="2011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Automation Engineer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182880" y="1069848"/>
            <a:ext cx="4251960" cy="804672"/>
          </a:xfrm>
          <a:prstGeom prst="rect">
            <a:avLst/>
          </a:prstGeom>
          <a:solidFill>
            <a:srgbClr val="FFFFFF"/>
          </a:solidFill>
          <a:ln w="19050">
            <a:solidFill>
              <a:srgbClr val="1ABC9C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>
            <a:off x="182880" y="1069848"/>
            <a:ext cx="54864" cy="804672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0"/>
          <p:cNvSpPr/>
          <p:nvPr/>
        </p:nvSpPr>
        <p:spPr>
          <a:xfrm>
            <a:off x="2944368" y="1133856"/>
            <a:ext cx="1417320" cy="237744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1"/>
          <p:cNvSpPr/>
          <p:nvPr/>
        </p:nvSpPr>
        <p:spPr>
          <a:xfrm>
            <a:off x="2944368" y="1133856"/>
            <a:ext cx="1417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Operator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10896" y="1161288"/>
            <a:ext cx="25603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30"/>
                </a:solidFill>
              </a:rPr>
              <a:t>View a centralized dashboard of all habitat sensors to monitor the overall health of the Mars base.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590288" y="1069848"/>
            <a:ext cx="4251960" cy="804672"/>
          </a:xfrm>
          <a:prstGeom prst="rect">
            <a:avLst/>
          </a:prstGeom>
          <a:solidFill>
            <a:srgbClr val="FFFFFF"/>
          </a:solidFill>
          <a:ln w="19050">
            <a:solidFill>
              <a:srgbClr val="1ABC9C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>
            <a:off x="4590288" y="1069848"/>
            <a:ext cx="54864" cy="804672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>
            <a:off x="7351776" y="1133856"/>
            <a:ext cx="1417320" cy="237744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6"/>
          <p:cNvSpPr/>
          <p:nvPr/>
        </p:nvSpPr>
        <p:spPr>
          <a:xfrm>
            <a:off x="7351776" y="1133856"/>
            <a:ext cx="1417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Operator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718304" y="1161288"/>
            <a:ext cx="25603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30"/>
                </a:solidFill>
              </a:rPr>
              <a:t>See the most recent reading from each sensor instantly upon opening the dashboard — no waiting for the next broadcast.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182880" y="1929384"/>
            <a:ext cx="4251960" cy="804672"/>
          </a:xfrm>
          <a:prstGeom prst="rect">
            <a:avLst/>
          </a:prstGeom>
          <a:solidFill>
            <a:srgbClr val="FFFFFF"/>
          </a:solidFill>
          <a:ln w="19050">
            <a:solidFill>
              <a:srgbClr val="1ABC9C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2" name="Shape 19"/>
          <p:cNvSpPr/>
          <p:nvPr/>
        </p:nvSpPr>
        <p:spPr>
          <a:xfrm>
            <a:off x="182880" y="1929384"/>
            <a:ext cx="54864" cy="804672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0"/>
          <p:cNvSpPr/>
          <p:nvPr/>
        </p:nvSpPr>
        <p:spPr>
          <a:xfrm>
            <a:off x="2944368" y="1993392"/>
            <a:ext cx="1417320" cy="237744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1"/>
          <p:cNvSpPr/>
          <p:nvPr/>
        </p:nvSpPr>
        <p:spPr>
          <a:xfrm>
            <a:off x="2944368" y="1993392"/>
            <a:ext cx="1417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Operator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10896" y="2020824"/>
            <a:ext cx="25603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30"/>
                </a:solidFill>
              </a:rPr>
              <a:t>Sensor data updates automatically without refreshing so I am always looking at live, real-time telemetry.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590288" y="1929384"/>
            <a:ext cx="4251960" cy="804672"/>
          </a:xfrm>
          <a:prstGeom prst="rect">
            <a:avLst/>
          </a:prstGeom>
          <a:solidFill>
            <a:srgbClr val="FFFFFF"/>
          </a:solidFill>
          <a:ln w="19050">
            <a:solidFill>
              <a:srgbClr val="1ABC9C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7" name="Shape 24"/>
          <p:cNvSpPr/>
          <p:nvPr/>
        </p:nvSpPr>
        <p:spPr>
          <a:xfrm>
            <a:off x="4590288" y="1929384"/>
            <a:ext cx="54864" cy="804672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5"/>
          <p:cNvSpPr/>
          <p:nvPr/>
        </p:nvSpPr>
        <p:spPr>
          <a:xfrm>
            <a:off x="7351776" y="1993392"/>
            <a:ext cx="1417320" cy="237744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6"/>
          <p:cNvSpPr/>
          <p:nvPr/>
        </p:nvSpPr>
        <p:spPr>
          <a:xfrm>
            <a:off x="7351776" y="1993392"/>
            <a:ext cx="1417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Operator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718304" y="2020824"/>
            <a:ext cx="25603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30"/>
                </a:solidFill>
              </a:rPr>
              <a:t>See standardized units and naming conventions for all data, regardless of which device it came from.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182880" y="2788920"/>
            <a:ext cx="4251960" cy="804672"/>
          </a:xfrm>
          <a:prstGeom prst="rect">
            <a:avLst/>
          </a:prstGeom>
          <a:solidFill>
            <a:srgbClr val="FFFFFF"/>
          </a:solidFill>
          <a:ln w="19050">
            <a:solidFill>
              <a:srgbClr val="1ABC9C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2" name="Shape 29"/>
          <p:cNvSpPr/>
          <p:nvPr/>
        </p:nvSpPr>
        <p:spPr>
          <a:xfrm>
            <a:off x="182880" y="2788920"/>
            <a:ext cx="54864" cy="804672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0"/>
          <p:cNvSpPr/>
          <p:nvPr/>
        </p:nvSpPr>
        <p:spPr>
          <a:xfrm>
            <a:off x="2944368" y="2852928"/>
            <a:ext cx="1417320" cy="237744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1"/>
          <p:cNvSpPr/>
          <p:nvPr/>
        </p:nvSpPr>
        <p:spPr>
          <a:xfrm>
            <a:off x="2944368" y="2852928"/>
            <a:ext cx="1417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Operator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310896" y="2880360"/>
            <a:ext cx="25603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30"/>
                </a:solidFill>
              </a:rPr>
              <a:t>View a live line chart for selected sensors (e.g. greenhouse temperature) while the page is open to track trends.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4590288" y="2788920"/>
            <a:ext cx="4251960" cy="804672"/>
          </a:xfrm>
          <a:prstGeom prst="rect">
            <a:avLst/>
          </a:prstGeom>
          <a:solidFill>
            <a:srgbClr val="FFFFFF"/>
          </a:solidFill>
          <a:ln w="19050">
            <a:solidFill>
              <a:srgbClr val="1ABC9C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7" name="Shape 34"/>
          <p:cNvSpPr/>
          <p:nvPr/>
        </p:nvSpPr>
        <p:spPr>
          <a:xfrm>
            <a:off x="4590288" y="2788920"/>
            <a:ext cx="54864" cy="804672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5"/>
          <p:cNvSpPr/>
          <p:nvPr/>
        </p:nvSpPr>
        <p:spPr>
          <a:xfrm>
            <a:off x="7351776" y="2852928"/>
            <a:ext cx="1417320" cy="237744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6"/>
          <p:cNvSpPr/>
          <p:nvPr/>
        </p:nvSpPr>
        <p:spPr>
          <a:xfrm>
            <a:off x="7351776" y="2852928"/>
            <a:ext cx="1417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Operator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4718304" y="2880360"/>
            <a:ext cx="25603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30"/>
                </a:solidFill>
              </a:rPr>
              <a:t>Sensors are grouped by operational domain (Thermal, Power, Air Quality) for fast navigation during an emergency.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182880" y="3648456"/>
            <a:ext cx="4251960" cy="804672"/>
          </a:xfrm>
          <a:prstGeom prst="rect">
            <a:avLst/>
          </a:prstGeom>
          <a:solidFill>
            <a:srgbClr val="FFFFFF"/>
          </a:solidFill>
          <a:ln w="19050">
            <a:solidFill>
              <a:srgbClr val="1ABC9C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2" name="Shape 39"/>
          <p:cNvSpPr/>
          <p:nvPr/>
        </p:nvSpPr>
        <p:spPr>
          <a:xfrm>
            <a:off x="182880" y="3648456"/>
            <a:ext cx="54864" cy="804672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0"/>
          <p:cNvSpPr/>
          <p:nvPr/>
        </p:nvSpPr>
        <p:spPr>
          <a:xfrm>
            <a:off x="2944368" y="3712464"/>
            <a:ext cx="1417320" cy="237744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41"/>
          <p:cNvSpPr/>
          <p:nvPr/>
        </p:nvSpPr>
        <p:spPr>
          <a:xfrm>
            <a:off x="2944368" y="3712464"/>
            <a:ext cx="1417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Operator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310896" y="3739896"/>
            <a:ext cx="25603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30"/>
                </a:solidFill>
              </a:rPr>
              <a:t>Dashboard displays the exact timestamp of the last data point received so I know if a sensor has gone offline.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4590288" y="3648456"/>
            <a:ext cx="4251960" cy="804672"/>
          </a:xfrm>
          <a:prstGeom prst="rect">
            <a:avLst/>
          </a:prstGeom>
          <a:solidFill>
            <a:srgbClr val="FFFFFF"/>
          </a:solidFill>
          <a:ln w="19050">
            <a:solidFill>
              <a:srgbClr val="1ABC9C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7" name="Shape 44"/>
          <p:cNvSpPr/>
          <p:nvPr/>
        </p:nvSpPr>
        <p:spPr>
          <a:xfrm>
            <a:off x="4590288" y="3648456"/>
            <a:ext cx="54864" cy="804672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5"/>
          <p:cNvSpPr/>
          <p:nvPr/>
        </p:nvSpPr>
        <p:spPr>
          <a:xfrm>
            <a:off x="7351776" y="3712464"/>
            <a:ext cx="1417320" cy="237744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6"/>
          <p:cNvSpPr/>
          <p:nvPr/>
        </p:nvSpPr>
        <p:spPr>
          <a:xfrm>
            <a:off x="7351776" y="3712464"/>
            <a:ext cx="1417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Operator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718304" y="3739896"/>
            <a:ext cx="25603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30"/>
                </a:solidFill>
              </a:rPr>
              <a:t>A visual indicator flags sensor data older than 5 minutes so I don't mistakenly trust stale telemetry.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Text 49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</a:rPr>
              <a:t>Mars Automation Platform  ·  Lab Advanced Programming 2025/2026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109728"/>
            <a:ext cx="438912" cy="43891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77240" y="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User Stories — Automation Rule Management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182880" y="804672"/>
            <a:ext cx="2103120" cy="1828800"/>
          </a:xfrm>
          <a:prstGeom prst="rect">
            <a:avLst/>
          </a:prstGeom>
          <a:solidFill>
            <a:srgbClr val="0D1B3E"/>
          </a:solidFill>
          <a:ln w="19050">
            <a:solidFill>
              <a:srgbClr val="E67E2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Shape 3"/>
          <p:cNvSpPr/>
          <p:nvPr/>
        </p:nvSpPr>
        <p:spPr>
          <a:xfrm>
            <a:off x="182880" y="804672"/>
            <a:ext cx="2103120" cy="54864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914400"/>
            <a:ext cx="457200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274320" y="1444752"/>
            <a:ext cx="1920240" cy="20116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5"/>
          <p:cNvSpPr/>
          <p:nvPr/>
        </p:nvSpPr>
        <p:spPr>
          <a:xfrm>
            <a:off x="274320" y="1444752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Automation Engineer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274320" y="1700784"/>
            <a:ext cx="19202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ECF2"/>
                </a:solidFill>
              </a:rPr>
              <a:t>Create new rules using a simple sentence format (IF sensor op value THEN actuator state).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2395728" y="804672"/>
            <a:ext cx="2103120" cy="1828800"/>
          </a:xfrm>
          <a:prstGeom prst="rect">
            <a:avLst/>
          </a:prstGeom>
          <a:solidFill>
            <a:srgbClr val="0D1B3E"/>
          </a:solidFill>
          <a:ln w="19050">
            <a:solidFill>
              <a:srgbClr val="E67E2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2" name="Shape 8"/>
          <p:cNvSpPr/>
          <p:nvPr/>
        </p:nvSpPr>
        <p:spPr>
          <a:xfrm>
            <a:off x="2395728" y="804672"/>
            <a:ext cx="2103120" cy="54864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688" y="914400"/>
            <a:ext cx="457200" cy="45720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2487168" y="1444752"/>
            <a:ext cx="1920240" cy="20116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0"/>
          <p:cNvSpPr/>
          <p:nvPr/>
        </p:nvSpPr>
        <p:spPr>
          <a:xfrm>
            <a:off x="2487168" y="1444752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Automation Engineer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2487168" y="1700784"/>
            <a:ext cx="19202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ECF2"/>
                </a:solidFill>
              </a:rPr>
              <a:t>Select sensors and actuators from predefined lists when creating a rule to avoid fatal typing errors.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4608576" y="804672"/>
            <a:ext cx="2103120" cy="1828800"/>
          </a:xfrm>
          <a:prstGeom prst="rect">
            <a:avLst/>
          </a:prstGeom>
          <a:solidFill>
            <a:srgbClr val="0D1B3E"/>
          </a:solidFill>
          <a:ln w="19050">
            <a:solidFill>
              <a:srgbClr val="E67E2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8" name="Shape 13"/>
          <p:cNvSpPr/>
          <p:nvPr/>
        </p:nvSpPr>
        <p:spPr>
          <a:xfrm>
            <a:off x="4608576" y="804672"/>
            <a:ext cx="2103120" cy="54864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1536" y="914400"/>
            <a:ext cx="457200" cy="45720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4700016" y="1444752"/>
            <a:ext cx="1920240" cy="20116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5"/>
          <p:cNvSpPr/>
          <p:nvPr/>
        </p:nvSpPr>
        <p:spPr>
          <a:xfrm>
            <a:off x="4700016" y="1444752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Automation Engineer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4700016" y="1700784"/>
            <a:ext cx="19202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ECF2"/>
                </a:solidFill>
              </a:rPr>
              <a:t>Define rule conditions using standard operators (&lt;, &lt;=, =, &gt;, &gt;=) to set precise environmental thresholds.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6821424" y="804672"/>
            <a:ext cx="2103120" cy="1828800"/>
          </a:xfrm>
          <a:prstGeom prst="rect">
            <a:avLst/>
          </a:prstGeom>
          <a:solidFill>
            <a:srgbClr val="0D1B3E"/>
          </a:solidFill>
          <a:ln w="19050">
            <a:solidFill>
              <a:srgbClr val="E67E2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4" name="Shape 18"/>
          <p:cNvSpPr/>
          <p:nvPr/>
        </p:nvSpPr>
        <p:spPr>
          <a:xfrm>
            <a:off x="6821424" y="804672"/>
            <a:ext cx="2103120" cy="54864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44384" y="914400"/>
            <a:ext cx="457200" cy="457200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6912864" y="1444752"/>
            <a:ext cx="1920240" cy="20116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0"/>
          <p:cNvSpPr/>
          <p:nvPr/>
        </p:nvSpPr>
        <p:spPr>
          <a:xfrm>
            <a:off x="6912864" y="1444752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Automation Engineer</a:t>
            </a:r>
            <a:endParaRPr lang="en-US" sz="1200" dirty="0"/>
          </a:p>
        </p:txBody>
      </p:sp>
      <p:sp>
        <p:nvSpPr>
          <p:cNvPr id="28" name="Text 21"/>
          <p:cNvSpPr/>
          <p:nvPr/>
        </p:nvSpPr>
        <p:spPr>
          <a:xfrm>
            <a:off x="6912864" y="1700784"/>
            <a:ext cx="19202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ECF2"/>
                </a:solidFill>
              </a:rPr>
              <a:t>View a list of all currently active rules to audit the habitat's full automated logic at a glance.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182880" y="2743200"/>
            <a:ext cx="2103120" cy="1828800"/>
          </a:xfrm>
          <a:prstGeom prst="rect">
            <a:avLst/>
          </a:prstGeom>
          <a:solidFill>
            <a:srgbClr val="0D1B3E"/>
          </a:solidFill>
          <a:ln w="19050">
            <a:solidFill>
              <a:srgbClr val="E67E2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0" name="Shape 23"/>
          <p:cNvSpPr/>
          <p:nvPr/>
        </p:nvSpPr>
        <p:spPr>
          <a:xfrm>
            <a:off x="182880" y="2743200"/>
            <a:ext cx="2103120" cy="54864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" y="2852928"/>
            <a:ext cx="457200" cy="457200"/>
          </a:xfrm>
          <a:prstGeom prst="rect">
            <a:avLst/>
          </a:prstGeom>
        </p:spPr>
      </p:pic>
      <p:sp>
        <p:nvSpPr>
          <p:cNvPr id="32" name="Shape 24"/>
          <p:cNvSpPr/>
          <p:nvPr/>
        </p:nvSpPr>
        <p:spPr>
          <a:xfrm>
            <a:off x="274320" y="3383280"/>
            <a:ext cx="1920240" cy="20116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25"/>
          <p:cNvSpPr/>
          <p:nvPr/>
        </p:nvSpPr>
        <p:spPr>
          <a:xfrm>
            <a:off x="274320" y="3383280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Automation Engineer</a:t>
            </a:r>
            <a:endParaRPr lang="en-US" sz="1200" dirty="0"/>
          </a:p>
        </p:txBody>
      </p:sp>
      <p:sp>
        <p:nvSpPr>
          <p:cNvPr id="34" name="Text 26"/>
          <p:cNvSpPr/>
          <p:nvPr/>
        </p:nvSpPr>
        <p:spPr>
          <a:xfrm>
            <a:off x="274320" y="3639312"/>
            <a:ext cx="19202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ECF2"/>
                </a:solidFill>
              </a:rPr>
              <a:t>Delete automation rules to permanently remove outdated or dangerous logic from the system.</a:t>
            </a:r>
            <a:endParaRPr lang="en-US" sz="1200" dirty="0"/>
          </a:p>
        </p:txBody>
      </p:sp>
      <p:sp>
        <p:nvSpPr>
          <p:cNvPr id="35" name="Shape 27"/>
          <p:cNvSpPr/>
          <p:nvPr/>
        </p:nvSpPr>
        <p:spPr>
          <a:xfrm>
            <a:off x="2395728" y="2743200"/>
            <a:ext cx="2103120" cy="1828800"/>
          </a:xfrm>
          <a:prstGeom prst="rect">
            <a:avLst/>
          </a:prstGeom>
          <a:solidFill>
            <a:srgbClr val="0D1B3E"/>
          </a:solidFill>
          <a:ln w="19050">
            <a:solidFill>
              <a:srgbClr val="E67E2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6" name="Shape 28"/>
          <p:cNvSpPr/>
          <p:nvPr/>
        </p:nvSpPr>
        <p:spPr>
          <a:xfrm>
            <a:off x="2395728" y="2743200"/>
            <a:ext cx="2103120" cy="54864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37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18688" y="2852928"/>
            <a:ext cx="457200" cy="457200"/>
          </a:xfrm>
          <a:prstGeom prst="rect">
            <a:avLst/>
          </a:prstGeom>
        </p:spPr>
      </p:pic>
      <p:sp>
        <p:nvSpPr>
          <p:cNvPr id="38" name="Shape 29"/>
          <p:cNvSpPr/>
          <p:nvPr/>
        </p:nvSpPr>
        <p:spPr>
          <a:xfrm>
            <a:off x="2487168" y="3383280"/>
            <a:ext cx="1920240" cy="20116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0"/>
          <p:cNvSpPr/>
          <p:nvPr/>
        </p:nvSpPr>
        <p:spPr>
          <a:xfrm>
            <a:off x="2487168" y="3383280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Automation Engineer</a:t>
            </a:r>
            <a:endParaRPr lang="en-US" sz="1200" dirty="0"/>
          </a:p>
        </p:txBody>
      </p:sp>
      <p:sp>
        <p:nvSpPr>
          <p:cNvPr id="40" name="Text 31"/>
          <p:cNvSpPr/>
          <p:nvPr/>
        </p:nvSpPr>
        <p:spPr>
          <a:xfrm>
            <a:off x="2487168" y="3639312"/>
            <a:ext cx="19202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ECF2"/>
                </a:solidFill>
              </a:rPr>
              <a:t>Edit existing rules to adjust thresholds (e.g. lower heater trigger) as Martian seasons change.</a:t>
            </a:r>
            <a:endParaRPr lang="en-US" sz="1200" dirty="0"/>
          </a:p>
        </p:txBody>
      </p:sp>
      <p:sp>
        <p:nvSpPr>
          <p:cNvPr id="41" name="Shape 32"/>
          <p:cNvSpPr/>
          <p:nvPr/>
        </p:nvSpPr>
        <p:spPr>
          <a:xfrm>
            <a:off x="4608576" y="2743200"/>
            <a:ext cx="2103120" cy="1828800"/>
          </a:xfrm>
          <a:prstGeom prst="rect">
            <a:avLst/>
          </a:prstGeom>
          <a:solidFill>
            <a:srgbClr val="0D1B3E"/>
          </a:solidFill>
          <a:ln w="19050">
            <a:solidFill>
              <a:srgbClr val="E67E2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2" name="Shape 33"/>
          <p:cNvSpPr/>
          <p:nvPr/>
        </p:nvSpPr>
        <p:spPr>
          <a:xfrm>
            <a:off x="4608576" y="2743200"/>
            <a:ext cx="2103120" cy="54864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43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31536" y="2852928"/>
            <a:ext cx="457200" cy="457200"/>
          </a:xfrm>
          <a:prstGeom prst="rect">
            <a:avLst/>
          </a:prstGeom>
        </p:spPr>
      </p:pic>
      <p:sp>
        <p:nvSpPr>
          <p:cNvPr id="44" name="Shape 34"/>
          <p:cNvSpPr/>
          <p:nvPr/>
        </p:nvSpPr>
        <p:spPr>
          <a:xfrm>
            <a:off x="4700016" y="3383280"/>
            <a:ext cx="1920240" cy="20116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35"/>
          <p:cNvSpPr/>
          <p:nvPr/>
        </p:nvSpPr>
        <p:spPr>
          <a:xfrm>
            <a:off x="4700016" y="3383280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Automation Engineer</a:t>
            </a:r>
            <a:endParaRPr lang="en-US" sz="1200" dirty="0"/>
          </a:p>
        </p:txBody>
      </p:sp>
      <p:sp>
        <p:nvSpPr>
          <p:cNvPr id="46" name="Text 36"/>
          <p:cNvSpPr/>
          <p:nvPr/>
        </p:nvSpPr>
        <p:spPr>
          <a:xfrm>
            <a:off x="4700016" y="3584448"/>
            <a:ext cx="19202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ECF2"/>
                </a:solidFill>
              </a:rPr>
              <a:t>Temporarily disable and re-enable specific rules without deleting them to prevent false actuations during maintenance.</a:t>
            </a:r>
            <a:endParaRPr lang="en-US" sz="1200" dirty="0"/>
          </a:p>
        </p:txBody>
      </p:sp>
      <p:sp>
        <p:nvSpPr>
          <p:cNvPr id="47" name="Shape 37"/>
          <p:cNvSpPr/>
          <p:nvPr/>
        </p:nvSpPr>
        <p:spPr>
          <a:xfrm>
            <a:off x="6821424" y="2743200"/>
            <a:ext cx="2103120" cy="1828800"/>
          </a:xfrm>
          <a:prstGeom prst="rect">
            <a:avLst/>
          </a:prstGeom>
          <a:solidFill>
            <a:srgbClr val="0D1B3E"/>
          </a:solidFill>
          <a:ln w="19050">
            <a:solidFill>
              <a:srgbClr val="1ABC9C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8" name="Shape 38"/>
          <p:cNvSpPr/>
          <p:nvPr/>
        </p:nvSpPr>
        <p:spPr>
          <a:xfrm>
            <a:off x="6821424" y="2743200"/>
            <a:ext cx="2103120" cy="54864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49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44384" y="2852928"/>
            <a:ext cx="457200" cy="457200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6912864" y="3383280"/>
            <a:ext cx="1920240" cy="201168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Text 40"/>
          <p:cNvSpPr/>
          <p:nvPr/>
        </p:nvSpPr>
        <p:spPr>
          <a:xfrm>
            <a:off x="6912864" y="3383280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Administrator</a:t>
            </a:r>
            <a:endParaRPr lang="en-US" sz="1200" dirty="0"/>
          </a:p>
        </p:txBody>
      </p:sp>
      <p:sp>
        <p:nvSpPr>
          <p:cNvPr id="52" name="Text 41"/>
          <p:cNvSpPr/>
          <p:nvPr/>
        </p:nvSpPr>
        <p:spPr>
          <a:xfrm>
            <a:off x="6912864" y="3639312"/>
            <a:ext cx="19202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ECF2"/>
                </a:solidFill>
              </a:rPr>
              <a:t>Automation rules are permanently saved so they survive a system crash or power cycle.</a:t>
            </a:r>
            <a:endParaRPr lang="en-US" sz="1200" dirty="0"/>
          </a:p>
        </p:txBody>
      </p:sp>
      <p:sp>
        <p:nvSpPr>
          <p:cNvPr id="53" name="Shape 4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Text 43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</a:rPr>
              <a:t>Mars Automation Platform  ·  Lab Advanced Programming 2025/2026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109728"/>
            <a:ext cx="438912" cy="43891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77240" y="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User Stories — System Resilience &amp; Configuration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182880" y="822960"/>
            <a:ext cx="5074920" cy="749808"/>
          </a:xfrm>
          <a:prstGeom prst="rect">
            <a:avLst/>
          </a:prstGeom>
          <a:solidFill>
            <a:srgbClr val="FFFFFF"/>
          </a:solidFill>
          <a:ln w="19050">
            <a:solidFill>
              <a:srgbClr val="1ABC9C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Shape 3"/>
          <p:cNvSpPr/>
          <p:nvPr/>
        </p:nvSpPr>
        <p:spPr>
          <a:xfrm>
            <a:off x="182880" y="822960"/>
            <a:ext cx="54864" cy="749808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978408"/>
            <a:ext cx="347472" cy="347472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206240" y="886968"/>
            <a:ext cx="914400" cy="210312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5"/>
          <p:cNvSpPr/>
          <p:nvPr/>
        </p:nvSpPr>
        <p:spPr>
          <a:xfrm>
            <a:off x="4206240" y="886968"/>
            <a:ext cx="914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Operator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749808" y="905256"/>
            <a:ext cx="340156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30"/>
                </a:solidFill>
              </a:rPr>
              <a:t>Dashboard displays data from ALL sensors regardless of transmission method — polling or streaming — no blind spots.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182880" y="1641348"/>
            <a:ext cx="5074920" cy="749808"/>
          </a:xfrm>
          <a:prstGeom prst="rect">
            <a:avLst/>
          </a:prstGeom>
          <a:solidFill>
            <a:srgbClr val="FFFFFF"/>
          </a:solidFill>
          <a:ln w="19050">
            <a:solidFill>
              <a:srgbClr val="1ABC9C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2" name="Shape 8"/>
          <p:cNvSpPr/>
          <p:nvPr/>
        </p:nvSpPr>
        <p:spPr>
          <a:xfrm>
            <a:off x="182880" y="1641348"/>
            <a:ext cx="54864" cy="749808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796796"/>
            <a:ext cx="347472" cy="347472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4206240" y="1705356"/>
            <a:ext cx="914400" cy="210312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0"/>
          <p:cNvSpPr/>
          <p:nvPr/>
        </p:nvSpPr>
        <p:spPr>
          <a:xfrm>
            <a:off x="4206240" y="1705356"/>
            <a:ext cx="914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Operator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749808" y="1723644"/>
            <a:ext cx="340156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30"/>
                </a:solidFill>
              </a:rPr>
              <a:t>System evaluates rules the exact instant new sensor data arrives so life-saving equipment activates immediately.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182880" y="2459736"/>
            <a:ext cx="5074920" cy="749808"/>
          </a:xfrm>
          <a:prstGeom prst="rect">
            <a:avLst/>
          </a:prstGeom>
          <a:solidFill>
            <a:srgbClr val="FFFFFF"/>
          </a:solidFill>
          <a:ln w="19050">
            <a:solidFill>
              <a:srgbClr val="1ABC9C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8" name="Shape 13"/>
          <p:cNvSpPr/>
          <p:nvPr/>
        </p:nvSpPr>
        <p:spPr>
          <a:xfrm>
            <a:off x="182880" y="2459736"/>
            <a:ext cx="54864" cy="749808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2615184"/>
            <a:ext cx="347472" cy="347472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4206240" y="2523744"/>
            <a:ext cx="914400" cy="210312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5"/>
          <p:cNvSpPr/>
          <p:nvPr/>
        </p:nvSpPr>
        <p:spPr>
          <a:xfrm>
            <a:off x="4206240" y="2523744"/>
            <a:ext cx="914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Operator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749808" y="2542032"/>
            <a:ext cx="340156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30"/>
                </a:solidFill>
              </a:rPr>
              <a:t>The monitoring dashboard stays live and responsive even if the automated rule system goes offline.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182880" y="3278124"/>
            <a:ext cx="5074920" cy="749808"/>
          </a:xfrm>
          <a:prstGeom prst="rect">
            <a:avLst/>
          </a:prstGeom>
          <a:solidFill>
            <a:srgbClr val="FFFFFF"/>
          </a:solidFill>
          <a:ln w="19050">
            <a:solidFill>
              <a:srgbClr val="1ABC9C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4" name="Shape 18"/>
          <p:cNvSpPr/>
          <p:nvPr/>
        </p:nvSpPr>
        <p:spPr>
          <a:xfrm>
            <a:off x="182880" y="3278124"/>
            <a:ext cx="54864" cy="749808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040" y="3433572"/>
            <a:ext cx="347472" cy="347472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4206240" y="3342132"/>
            <a:ext cx="914400" cy="210312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0"/>
          <p:cNvSpPr/>
          <p:nvPr/>
        </p:nvSpPr>
        <p:spPr>
          <a:xfrm>
            <a:off x="4206240" y="3342132"/>
            <a:ext cx="914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Operator</a:t>
            </a:r>
            <a:endParaRPr lang="en-US" sz="1200" dirty="0"/>
          </a:p>
        </p:txBody>
      </p:sp>
      <p:sp>
        <p:nvSpPr>
          <p:cNvPr id="28" name="Text 21"/>
          <p:cNvSpPr/>
          <p:nvPr/>
        </p:nvSpPr>
        <p:spPr>
          <a:xfrm>
            <a:off x="749808" y="3360420"/>
            <a:ext cx="340156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30"/>
                </a:solidFill>
              </a:rPr>
              <a:t>A visual alert appears on the UI when a sensor reads out of normal bounds — even before a rule triggers.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182880" y="4096512"/>
            <a:ext cx="5074920" cy="749808"/>
          </a:xfrm>
          <a:prstGeom prst="rect">
            <a:avLst/>
          </a:prstGeom>
          <a:solidFill>
            <a:srgbClr val="FFFFFF"/>
          </a:solidFill>
          <a:ln w="19050">
            <a:solidFill>
              <a:srgbClr val="1ABC9C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0" name="Shape 23"/>
          <p:cNvSpPr/>
          <p:nvPr/>
        </p:nvSpPr>
        <p:spPr>
          <a:xfrm>
            <a:off x="182880" y="4096512"/>
            <a:ext cx="54864" cy="749808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4251960"/>
            <a:ext cx="347472" cy="347472"/>
          </a:xfrm>
          <a:prstGeom prst="rect">
            <a:avLst/>
          </a:prstGeom>
        </p:spPr>
      </p:pic>
      <p:sp>
        <p:nvSpPr>
          <p:cNvPr id="32" name="Shape 24"/>
          <p:cNvSpPr/>
          <p:nvPr/>
        </p:nvSpPr>
        <p:spPr>
          <a:xfrm>
            <a:off x="4206240" y="4160520"/>
            <a:ext cx="914400" cy="210312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25"/>
          <p:cNvSpPr/>
          <p:nvPr/>
        </p:nvSpPr>
        <p:spPr>
          <a:xfrm>
            <a:off x="4206240" y="4160520"/>
            <a:ext cx="914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Operator</a:t>
            </a:r>
            <a:endParaRPr lang="en-US" sz="1200" dirty="0"/>
          </a:p>
        </p:txBody>
      </p:sp>
      <p:sp>
        <p:nvSpPr>
          <p:cNvPr id="34" name="Text 26"/>
          <p:cNvSpPr/>
          <p:nvPr/>
        </p:nvSpPr>
        <p:spPr>
          <a:xfrm>
            <a:off x="749808" y="4178808"/>
            <a:ext cx="340156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30"/>
                </a:solidFill>
              </a:rPr>
              <a:t>A global 'System Connection' indicator (Green/Red) shows immediately if the UI has lost its SSE/WebSocket connection.</a:t>
            </a:r>
            <a:endParaRPr lang="en-US" sz="1200" dirty="0"/>
          </a:p>
        </p:txBody>
      </p:sp>
      <p:sp>
        <p:nvSpPr>
          <p:cNvPr id="35" name="Shape 27"/>
          <p:cNvSpPr/>
          <p:nvPr/>
        </p:nvSpPr>
        <p:spPr>
          <a:xfrm>
            <a:off x="5440680" y="822960"/>
            <a:ext cx="352044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E67E2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6" name="Shape 28"/>
          <p:cNvSpPr/>
          <p:nvPr/>
        </p:nvSpPr>
        <p:spPr>
          <a:xfrm>
            <a:off x="5440680" y="822960"/>
            <a:ext cx="54864" cy="8686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37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77840" y="1024128"/>
            <a:ext cx="384048" cy="384048"/>
          </a:xfrm>
          <a:prstGeom prst="rect">
            <a:avLst/>
          </a:prstGeom>
        </p:spPr>
      </p:pic>
      <p:sp>
        <p:nvSpPr>
          <p:cNvPr id="38" name="Shape 29"/>
          <p:cNvSpPr/>
          <p:nvPr/>
        </p:nvSpPr>
        <p:spPr>
          <a:xfrm>
            <a:off x="7909560" y="886968"/>
            <a:ext cx="1005840" cy="21031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0"/>
          <p:cNvSpPr/>
          <p:nvPr/>
        </p:nvSpPr>
        <p:spPr>
          <a:xfrm>
            <a:off x="7863840" y="946404"/>
            <a:ext cx="109728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 err="1">
                <a:solidFill>
                  <a:srgbClr val="FFFFFF"/>
                </a:solidFill>
              </a:rPr>
              <a:t>Administratoror</a:t>
            </a:r>
            <a:endParaRPr lang="en-US" sz="1200" dirty="0"/>
          </a:p>
        </p:txBody>
      </p:sp>
      <p:sp>
        <p:nvSpPr>
          <p:cNvPr id="40" name="Text 31"/>
          <p:cNvSpPr/>
          <p:nvPr/>
        </p:nvSpPr>
        <p:spPr>
          <a:xfrm>
            <a:off x="5971032" y="930783"/>
            <a:ext cx="2122932" cy="6454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30"/>
                </a:solidFill>
              </a:rPr>
              <a:t>Configure global polling frequency for legacy sensors to balance network load with dashboard responsiveness.</a:t>
            </a:r>
            <a:endParaRPr lang="en-US" sz="1200" dirty="0"/>
          </a:p>
        </p:txBody>
      </p:sp>
      <p:sp>
        <p:nvSpPr>
          <p:cNvPr id="41" name="Shape 32"/>
          <p:cNvSpPr/>
          <p:nvPr/>
        </p:nvSpPr>
        <p:spPr>
          <a:xfrm>
            <a:off x="5440680" y="1783080"/>
            <a:ext cx="352044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E67E2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2" name="Shape 33"/>
          <p:cNvSpPr/>
          <p:nvPr/>
        </p:nvSpPr>
        <p:spPr>
          <a:xfrm>
            <a:off x="5440680" y="1783080"/>
            <a:ext cx="54864" cy="8686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43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77840" y="1984248"/>
            <a:ext cx="384048" cy="384048"/>
          </a:xfrm>
          <a:prstGeom prst="rect">
            <a:avLst/>
          </a:prstGeom>
        </p:spPr>
      </p:pic>
      <p:sp>
        <p:nvSpPr>
          <p:cNvPr id="44" name="Shape 34"/>
          <p:cNvSpPr/>
          <p:nvPr/>
        </p:nvSpPr>
        <p:spPr>
          <a:xfrm>
            <a:off x="7863840" y="1847088"/>
            <a:ext cx="1051560" cy="192024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35"/>
          <p:cNvSpPr/>
          <p:nvPr/>
        </p:nvSpPr>
        <p:spPr>
          <a:xfrm>
            <a:off x="7886700" y="1824228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Operator</a:t>
            </a:r>
            <a:endParaRPr lang="en-US" sz="1200" dirty="0"/>
          </a:p>
        </p:txBody>
      </p:sp>
      <p:sp>
        <p:nvSpPr>
          <p:cNvPr id="46" name="Text 36"/>
          <p:cNvSpPr/>
          <p:nvPr/>
        </p:nvSpPr>
        <p:spPr>
          <a:xfrm>
            <a:off x="5897880" y="1907286"/>
            <a:ext cx="2112264" cy="6446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030"/>
                </a:solidFill>
              </a:rPr>
              <a:t>Manually trigger a refresh of all actuator states via a dashboard button to verify true physical status.</a:t>
            </a:r>
            <a:endParaRPr lang="en-US" sz="1200" dirty="0"/>
          </a:p>
        </p:txBody>
      </p:sp>
      <p:sp>
        <p:nvSpPr>
          <p:cNvPr id="47" name="Shape 37"/>
          <p:cNvSpPr/>
          <p:nvPr/>
        </p:nvSpPr>
        <p:spPr>
          <a:xfrm>
            <a:off x="5440680" y="2834640"/>
            <a:ext cx="3520440" cy="1984248"/>
          </a:xfrm>
          <a:prstGeom prst="rect">
            <a:avLst/>
          </a:prstGeom>
          <a:solidFill>
            <a:srgbClr val="0D1B3E"/>
          </a:solidFill>
          <a:ln w="19050">
            <a:solidFill>
              <a:srgbClr val="1ABC9C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8" name="Shape 38"/>
          <p:cNvSpPr/>
          <p:nvPr/>
        </p:nvSpPr>
        <p:spPr>
          <a:xfrm>
            <a:off x="5440680" y="2834640"/>
            <a:ext cx="3520440" cy="54864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39"/>
          <p:cNvSpPr/>
          <p:nvPr/>
        </p:nvSpPr>
        <p:spPr>
          <a:xfrm>
            <a:off x="5440680" y="2889504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User Story Summary</a:t>
            </a:r>
            <a:endParaRPr lang="en-US" sz="1200" dirty="0"/>
          </a:p>
        </p:txBody>
      </p:sp>
      <p:sp>
        <p:nvSpPr>
          <p:cNvPr id="50" name="Shape 40"/>
          <p:cNvSpPr/>
          <p:nvPr/>
        </p:nvSpPr>
        <p:spPr>
          <a:xfrm>
            <a:off x="5623560" y="3291840"/>
            <a:ext cx="347472" cy="256032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Text 41"/>
          <p:cNvSpPr/>
          <p:nvPr/>
        </p:nvSpPr>
        <p:spPr>
          <a:xfrm>
            <a:off x="5623560" y="3291840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8</a:t>
            </a:r>
            <a:endParaRPr lang="en-US" sz="1200" dirty="0"/>
          </a:p>
        </p:txBody>
      </p:sp>
      <p:sp>
        <p:nvSpPr>
          <p:cNvPr id="52" name="Text 42"/>
          <p:cNvSpPr/>
          <p:nvPr/>
        </p:nvSpPr>
        <p:spPr>
          <a:xfrm>
            <a:off x="6053328" y="3291840"/>
            <a:ext cx="2697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CF2"/>
                </a:solidFill>
              </a:rPr>
              <a:t>Dashboard &amp; Monitoring</a:t>
            </a:r>
            <a:endParaRPr lang="en-US" sz="1200" dirty="0"/>
          </a:p>
        </p:txBody>
      </p:sp>
      <p:sp>
        <p:nvSpPr>
          <p:cNvPr id="53" name="Shape 43"/>
          <p:cNvSpPr/>
          <p:nvPr/>
        </p:nvSpPr>
        <p:spPr>
          <a:xfrm>
            <a:off x="5623560" y="3639312"/>
            <a:ext cx="347472" cy="25603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Text 44"/>
          <p:cNvSpPr/>
          <p:nvPr/>
        </p:nvSpPr>
        <p:spPr>
          <a:xfrm>
            <a:off x="5623560" y="3639312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7</a:t>
            </a:r>
            <a:endParaRPr lang="en-US" sz="1200" dirty="0"/>
          </a:p>
        </p:txBody>
      </p:sp>
      <p:sp>
        <p:nvSpPr>
          <p:cNvPr id="55" name="Text 45"/>
          <p:cNvSpPr/>
          <p:nvPr/>
        </p:nvSpPr>
        <p:spPr>
          <a:xfrm>
            <a:off x="6053328" y="3639312"/>
            <a:ext cx="2697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CF2"/>
                </a:solidFill>
              </a:rPr>
              <a:t>Rule Management (CRUD)</a:t>
            </a:r>
            <a:endParaRPr lang="en-US" sz="1200" dirty="0"/>
          </a:p>
        </p:txBody>
      </p:sp>
      <p:sp>
        <p:nvSpPr>
          <p:cNvPr id="56" name="Shape 46"/>
          <p:cNvSpPr/>
          <p:nvPr/>
        </p:nvSpPr>
        <p:spPr>
          <a:xfrm>
            <a:off x="5623560" y="3986784"/>
            <a:ext cx="347472" cy="256032"/>
          </a:xfrm>
          <a:prstGeom prst="rect">
            <a:avLst/>
          </a:prstGeom>
          <a:solidFill>
            <a:srgbClr val="1ABC9C"/>
          </a:solidFill>
          <a:ln w="12700">
            <a:solidFill>
              <a:srgbClr val="1ABC9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Text 47"/>
          <p:cNvSpPr/>
          <p:nvPr/>
        </p:nvSpPr>
        <p:spPr>
          <a:xfrm>
            <a:off x="5623560" y="3986784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58" name="Text 48"/>
          <p:cNvSpPr/>
          <p:nvPr/>
        </p:nvSpPr>
        <p:spPr>
          <a:xfrm>
            <a:off x="6053328" y="3986784"/>
            <a:ext cx="2697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CF2"/>
                </a:solidFill>
              </a:rPr>
              <a:t>System Resilience</a:t>
            </a:r>
            <a:endParaRPr lang="en-US" sz="1200" dirty="0"/>
          </a:p>
        </p:txBody>
      </p:sp>
      <p:sp>
        <p:nvSpPr>
          <p:cNvPr id="59" name="Shape 49"/>
          <p:cNvSpPr/>
          <p:nvPr/>
        </p:nvSpPr>
        <p:spPr>
          <a:xfrm>
            <a:off x="5623560" y="4334256"/>
            <a:ext cx="347472" cy="25603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Text 50"/>
          <p:cNvSpPr/>
          <p:nvPr/>
        </p:nvSpPr>
        <p:spPr>
          <a:xfrm>
            <a:off x="5623560" y="4334256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61" name="Text 51"/>
          <p:cNvSpPr/>
          <p:nvPr/>
        </p:nvSpPr>
        <p:spPr>
          <a:xfrm>
            <a:off x="6053328" y="4334256"/>
            <a:ext cx="2697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CF2"/>
                </a:solidFill>
              </a:rPr>
              <a:t>Config &amp; Actuators</a:t>
            </a:r>
            <a:endParaRPr lang="en-US" sz="1200" dirty="0"/>
          </a:p>
        </p:txBody>
      </p:sp>
      <p:sp>
        <p:nvSpPr>
          <p:cNvPr id="62" name="Shape 52"/>
          <p:cNvSpPr/>
          <p:nvPr/>
        </p:nvSpPr>
        <p:spPr>
          <a:xfrm>
            <a:off x="5577840" y="4663440"/>
            <a:ext cx="3246120" cy="64008"/>
          </a:xfrm>
          <a:prstGeom prst="rect">
            <a:avLst/>
          </a:prstGeom>
          <a:solidFill>
            <a:srgbClr val="1A2A4A"/>
          </a:solidFill>
          <a:ln w="12700">
            <a:solidFill>
              <a:srgbClr val="1A2A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Text 53"/>
          <p:cNvSpPr/>
          <p:nvPr/>
        </p:nvSpPr>
        <p:spPr>
          <a:xfrm>
            <a:off x="5577840" y="4485132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BC9C"/>
                </a:solidFill>
              </a:rPr>
              <a:t>24 user stories implemented</a:t>
            </a:r>
            <a:endParaRPr lang="en-US" sz="1200" dirty="0"/>
          </a:p>
        </p:txBody>
      </p:sp>
      <p:sp>
        <p:nvSpPr>
          <p:cNvPr id="64" name="Shape 54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5" name="Text 55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</a:rPr>
              <a:t>Mars Automation Platform  ·  Lab Advanced Programming 2025/2026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4920" y="633370"/>
            <a:ext cx="1280160" cy="1280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921764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Accomplished.</a:t>
            </a:r>
            <a:endParaRPr lang="en-US" sz="4200" dirty="0"/>
          </a:p>
        </p:txBody>
      </p:sp>
      <p:sp>
        <p:nvSpPr>
          <p:cNvPr id="17" name="Text 14"/>
          <p:cNvSpPr/>
          <p:nvPr/>
        </p:nvSpPr>
        <p:spPr>
          <a:xfrm>
            <a:off x="457200" y="276910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ABC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up  →  http://localhost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</a:rPr>
              <a:t>Lab Advanced Programming 2025/2026  ·  Sapienza Università di Roma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1901B0-39B5-C9E1-BA67-79E9C4824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8D3AF83-9509-8F2A-AA28-55171C0A81F4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F660C1F0-9952-717F-1F59-AF403823A7B6}"/>
              </a:ext>
            </a:extLst>
          </p:cNvPr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46955870-2BA6-B570-33F2-21AE8A9F37BE}"/>
              </a:ext>
            </a:extLst>
          </p:cNvPr>
          <p:cNvSpPr/>
          <p:nvPr/>
        </p:nvSpPr>
        <p:spPr>
          <a:xfrm>
            <a:off x="457200" y="216027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Accomplished.</a:t>
            </a:r>
            <a:endParaRPr lang="en-US" sz="4200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3BD97B54-370A-B6C4-9CE3-DBAB895FFDD4}"/>
              </a:ext>
            </a:extLst>
          </p:cNvPr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</a:rPr>
              <a:t>Lab Advanced Programming 2025/2026  ·  Sapienza Università di Roma</a:t>
            </a:r>
            <a:endParaRPr lang="en-US" sz="1200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91C2CF4-E6FE-EE9C-4030-75587ACE0EAA}"/>
              </a:ext>
            </a:extLst>
          </p:cNvPr>
          <p:cNvGrpSpPr/>
          <p:nvPr/>
        </p:nvGrpSpPr>
        <p:grpSpPr>
          <a:xfrm>
            <a:off x="2253466" y="2359937"/>
            <a:ext cx="1440000" cy="1080000"/>
            <a:chOff x="228600" y="1188720"/>
            <a:chExt cx="1463040" cy="1371600"/>
          </a:xfrm>
        </p:grpSpPr>
        <p:sp>
          <p:nvSpPr>
            <p:cNvPr id="7" name="Shape 2">
              <a:extLst>
                <a:ext uri="{FF2B5EF4-FFF2-40B4-BE49-F238E27FC236}">
                  <a16:creationId xmlns:a16="http://schemas.microsoft.com/office/drawing/2014/main" id="{E35799EE-4C96-4278-E874-A98037C523F1}"/>
                </a:ext>
              </a:extLst>
            </p:cNvPr>
            <p:cNvSpPr/>
            <p:nvPr/>
          </p:nvSpPr>
          <p:spPr>
            <a:xfrm>
              <a:off x="228600" y="1188720"/>
              <a:ext cx="1463040" cy="1371600"/>
            </a:xfrm>
            <a:prstGeom prst="rect">
              <a:avLst/>
            </a:prstGeom>
            <a:solidFill>
              <a:srgbClr val="0D1B3E"/>
            </a:solidFill>
            <a:ln w="25400">
              <a:solidFill>
                <a:schemeClr val="accent2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8000"/>
                </a:srgbClr>
              </a:outerShdw>
            </a:effectLst>
          </p:spPr>
          <p:txBody>
            <a:bodyPr/>
            <a:lstStyle/>
            <a:p>
              <a:endParaRPr lang="en-GB"/>
            </a:p>
          </p:txBody>
        </p:sp>
        <p:sp>
          <p:nvSpPr>
            <p:cNvPr id="8" name="Text 3">
              <a:extLst>
                <a:ext uri="{FF2B5EF4-FFF2-40B4-BE49-F238E27FC236}">
                  <a16:creationId xmlns:a16="http://schemas.microsoft.com/office/drawing/2014/main" id="{D8C91A52-67B3-5E0D-676A-9BE8BB597658}"/>
                </a:ext>
              </a:extLst>
            </p:cNvPr>
            <p:cNvSpPr/>
            <p:nvPr/>
          </p:nvSpPr>
          <p:spPr>
            <a:xfrm>
              <a:off x="228600" y="1188720"/>
              <a:ext cx="1463040" cy="1371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</a:rPr>
                <a:t>Ebrahim Afridi</a:t>
              </a:r>
              <a:br>
                <a:rPr lang="en-US" sz="1200" b="1" dirty="0">
                  <a:solidFill>
                    <a:srgbClr val="FFFFFF"/>
                  </a:solidFill>
                </a:rPr>
              </a:br>
              <a:r>
                <a:rPr lang="en-US" sz="1200" b="1" dirty="0">
                  <a:solidFill>
                    <a:srgbClr val="FFFFFF"/>
                  </a:solidFill>
                </a:rPr>
                <a:t>2247107</a:t>
              </a:r>
              <a:endParaRPr lang="en-US" sz="1200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3A3B6DC2-D567-6D28-9D7B-C1420A66B64C}"/>
              </a:ext>
            </a:extLst>
          </p:cNvPr>
          <p:cNvGrpSpPr/>
          <p:nvPr/>
        </p:nvGrpSpPr>
        <p:grpSpPr>
          <a:xfrm>
            <a:off x="5470800" y="2348126"/>
            <a:ext cx="1440000" cy="1080000"/>
            <a:chOff x="228600" y="1188720"/>
            <a:chExt cx="1463040" cy="1371600"/>
          </a:xfrm>
        </p:grpSpPr>
        <p:sp>
          <p:nvSpPr>
            <p:cNvPr id="10" name="Shape 2">
              <a:extLst>
                <a:ext uri="{FF2B5EF4-FFF2-40B4-BE49-F238E27FC236}">
                  <a16:creationId xmlns:a16="http://schemas.microsoft.com/office/drawing/2014/main" id="{1213208F-9796-AD35-A85A-C6875856134F}"/>
                </a:ext>
              </a:extLst>
            </p:cNvPr>
            <p:cNvSpPr/>
            <p:nvPr/>
          </p:nvSpPr>
          <p:spPr>
            <a:xfrm>
              <a:off x="228600" y="1188720"/>
              <a:ext cx="1463040" cy="1371600"/>
            </a:xfrm>
            <a:prstGeom prst="rect">
              <a:avLst/>
            </a:prstGeom>
            <a:solidFill>
              <a:srgbClr val="0D1B3E"/>
            </a:solidFill>
            <a:ln w="25400">
              <a:solidFill>
                <a:schemeClr val="accent2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8000"/>
                </a:srgbClr>
              </a:outerShdw>
            </a:effectLst>
          </p:spPr>
          <p:txBody>
            <a:bodyPr/>
            <a:lstStyle/>
            <a:p>
              <a:endParaRPr lang="en-GB"/>
            </a:p>
          </p:txBody>
        </p:sp>
        <p:sp>
          <p:nvSpPr>
            <p:cNvPr id="11" name="Text 3">
              <a:extLst>
                <a:ext uri="{FF2B5EF4-FFF2-40B4-BE49-F238E27FC236}">
                  <a16:creationId xmlns:a16="http://schemas.microsoft.com/office/drawing/2014/main" id="{E2889FB3-149A-446D-8FB8-BB2504B531D7}"/>
                </a:ext>
              </a:extLst>
            </p:cNvPr>
            <p:cNvSpPr/>
            <p:nvPr/>
          </p:nvSpPr>
          <p:spPr>
            <a:xfrm>
              <a:off x="228600" y="1188720"/>
              <a:ext cx="1463040" cy="1371600"/>
            </a:xfrm>
            <a:prstGeom prst="rect">
              <a:avLst/>
            </a:prstGeom>
            <a:noFill/>
            <a:ln>
              <a:solidFill>
                <a:schemeClr val="accent2"/>
              </a:solidFill>
            </a:ln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</a:rPr>
                <a:t>Dakshita Minocha</a:t>
              </a:r>
              <a:br>
                <a:rPr lang="en-US" sz="1200" b="1" dirty="0">
                  <a:solidFill>
                    <a:srgbClr val="FFFFFF"/>
                  </a:solidFill>
                </a:rPr>
              </a:br>
              <a:r>
                <a:rPr lang="en-US" sz="1200" b="1" dirty="0">
                  <a:solidFill>
                    <a:srgbClr val="FFFFFF"/>
                  </a:solidFill>
                </a:rPr>
                <a:t>2247114</a:t>
              </a:r>
              <a:endParaRPr lang="en-US" sz="1200" dirty="0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9E857BA-44B8-4A9A-3986-6588B28BDD68}"/>
              </a:ext>
            </a:extLst>
          </p:cNvPr>
          <p:cNvGrpSpPr/>
          <p:nvPr/>
        </p:nvGrpSpPr>
        <p:grpSpPr>
          <a:xfrm>
            <a:off x="3862133" y="2359937"/>
            <a:ext cx="1440000" cy="1080000"/>
            <a:chOff x="228600" y="1188720"/>
            <a:chExt cx="1463040" cy="1371600"/>
          </a:xfrm>
        </p:grpSpPr>
        <p:sp>
          <p:nvSpPr>
            <p:cNvPr id="13" name="Shape 2">
              <a:extLst>
                <a:ext uri="{FF2B5EF4-FFF2-40B4-BE49-F238E27FC236}">
                  <a16:creationId xmlns:a16="http://schemas.microsoft.com/office/drawing/2014/main" id="{479E9D7B-A925-F79A-DB6E-BEACBC8FB222}"/>
                </a:ext>
              </a:extLst>
            </p:cNvPr>
            <p:cNvSpPr/>
            <p:nvPr/>
          </p:nvSpPr>
          <p:spPr>
            <a:xfrm>
              <a:off x="228600" y="1188720"/>
              <a:ext cx="1463040" cy="1371600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accent2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8000"/>
                </a:srgbClr>
              </a:outerShdw>
            </a:effectLst>
          </p:spPr>
          <p:txBody>
            <a:bodyPr/>
            <a:lstStyle/>
            <a:p>
              <a:endParaRPr lang="en-GB"/>
            </a:p>
          </p:txBody>
        </p:sp>
        <p:sp>
          <p:nvSpPr>
            <p:cNvPr id="14" name="Text 3">
              <a:extLst>
                <a:ext uri="{FF2B5EF4-FFF2-40B4-BE49-F238E27FC236}">
                  <a16:creationId xmlns:a16="http://schemas.microsoft.com/office/drawing/2014/main" id="{2BFC35EF-5CA4-EE56-9C13-05D793FF782B}"/>
                </a:ext>
              </a:extLst>
            </p:cNvPr>
            <p:cNvSpPr/>
            <p:nvPr/>
          </p:nvSpPr>
          <p:spPr>
            <a:xfrm>
              <a:off x="228600" y="1188720"/>
              <a:ext cx="1463040" cy="1371600"/>
            </a:xfrm>
            <a:prstGeom prst="rect">
              <a:avLst/>
            </a:prstGeom>
            <a:noFill/>
            <a:ln>
              <a:solidFill>
                <a:schemeClr val="accent2"/>
              </a:solidFill>
            </a:ln>
          </p:spPr>
          <p:txBody>
            <a:bodyPr wrap="square" rtlCol="0" anchor="ctr"/>
            <a:lstStyle/>
            <a:p>
              <a:pPr algn="ctr"/>
              <a:r>
                <a:rPr lang="en-US" sz="1200" b="1" dirty="0"/>
                <a:t>Bojan </a:t>
              </a:r>
              <a:r>
                <a:rPr lang="en-US" sz="1200" b="1" dirty="0" err="1"/>
                <a:t>Robev</a:t>
              </a:r>
              <a:br>
                <a:rPr lang="en-US" sz="1200" b="1" dirty="0"/>
              </a:br>
              <a:r>
                <a:rPr lang="en-US" sz="1200" b="1" dirty="0"/>
                <a:t>2252060</a:t>
              </a:r>
              <a:endParaRPr lang="en-US" sz="1200" dirty="0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374EE77-489C-6746-33F1-39FF2C075261}"/>
              </a:ext>
            </a:extLst>
          </p:cNvPr>
          <p:cNvGrpSpPr/>
          <p:nvPr/>
        </p:nvGrpSpPr>
        <p:grpSpPr>
          <a:xfrm>
            <a:off x="7063200" y="2337323"/>
            <a:ext cx="1440000" cy="1080000"/>
            <a:chOff x="228600" y="1188720"/>
            <a:chExt cx="1463040" cy="1371600"/>
          </a:xfrm>
          <a:solidFill>
            <a:schemeClr val="bg1"/>
          </a:solidFill>
        </p:grpSpPr>
        <p:sp>
          <p:nvSpPr>
            <p:cNvPr id="16" name="Shape 2">
              <a:extLst>
                <a:ext uri="{FF2B5EF4-FFF2-40B4-BE49-F238E27FC236}">
                  <a16:creationId xmlns:a16="http://schemas.microsoft.com/office/drawing/2014/main" id="{25BAF182-AADC-D382-E983-FCBD17135181}"/>
                </a:ext>
              </a:extLst>
            </p:cNvPr>
            <p:cNvSpPr/>
            <p:nvPr/>
          </p:nvSpPr>
          <p:spPr>
            <a:xfrm>
              <a:off x="228600" y="1188720"/>
              <a:ext cx="1463040" cy="1371600"/>
            </a:xfrm>
            <a:prstGeom prst="rect">
              <a:avLst/>
            </a:prstGeom>
            <a:grpFill/>
            <a:ln w="25400">
              <a:solidFill>
                <a:schemeClr val="accent2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8000"/>
                </a:srgbClr>
              </a:outerShdw>
            </a:effectLst>
          </p:spPr>
          <p:txBody>
            <a:bodyPr/>
            <a:lstStyle/>
            <a:p>
              <a:endParaRPr lang="en-GB"/>
            </a:p>
          </p:txBody>
        </p:sp>
        <p:sp>
          <p:nvSpPr>
            <p:cNvPr id="19" name="Text 3">
              <a:extLst>
                <a:ext uri="{FF2B5EF4-FFF2-40B4-BE49-F238E27FC236}">
                  <a16:creationId xmlns:a16="http://schemas.microsoft.com/office/drawing/2014/main" id="{99E17849-5F7F-EAE8-09AC-4CA77EF408B1}"/>
                </a:ext>
              </a:extLst>
            </p:cNvPr>
            <p:cNvSpPr/>
            <p:nvPr/>
          </p:nvSpPr>
          <p:spPr>
            <a:xfrm>
              <a:off x="228600" y="1188720"/>
              <a:ext cx="1463040" cy="1371600"/>
            </a:xfrm>
            <a:prstGeom prst="rect">
              <a:avLst/>
            </a:prstGeom>
            <a:grpFill/>
            <a:ln>
              <a:solidFill>
                <a:schemeClr val="accent2"/>
              </a:solidFill>
            </a:ln>
          </p:spPr>
          <p:txBody>
            <a:bodyPr wrap="square" rtlCol="0" anchor="ctr"/>
            <a:lstStyle/>
            <a:p>
              <a:pPr algn="ctr"/>
              <a:r>
                <a:rPr lang="en-US" sz="1200" b="1" dirty="0"/>
                <a:t>Emanuele Scaccia 2006749</a:t>
              </a:r>
              <a:endParaRPr lang="en-US" sz="1200" dirty="0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FA508CE-B31E-A120-581E-6C5957E625D7}"/>
              </a:ext>
            </a:extLst>
          </p:cNvPr>
          <p:cNvGrpSpPr/>
          <p:nvPr/>
        </p:nvGrpSpPr>
        <p:grpSpPr>
          <a:xfrm>
            <a:off x="661066" y="2372734"/>
            <a:ext cx="1440000" cy="1080000"/>
            <a:chOff x="228600" y="1188720"/>
            <a:chExt cx="1463040" cy="1371600"/>
          </a:xfrm>
          <a:solidFill>
            <a:schemeClr val="bg1"/>
          </a:solidFill>
        </p:grpSpPr>
        <p:sp>
          <p:nvSpPr>
            <p:cNvPr id="24" name="Shape 2">
              <a:extLst>
                <a:ext uri="{FF2B5EF4-FFF2-40B4-BE49-F238E27FC236}">
                  <a16:creationId xmlns:a16="http://schemas.microsoft.com/office/drawing/2014/main" id="{40451C77-256C-5826-F34E-11259B5FF3E0}"/>
                </a:ext>
              </a:extLst>
            </p:cNvPr>
            <p:cNvSpPr/>
            <p:nvPr/>
          </p:nvSpPr>
          <p:spPr>
            <a:xfrm>
              <a:off x="228600" y="1188720"/>
              <a:ext cx="1463040" cy="1371600"/>
            </a:xfrm>
            <a:prstGeom prst="rect">
              <a:avLst/>
            </a:prstGeom>
            <a:grpFill/>
            <a:ln w="25400">
              <a:solidFill>
                <a:schemeClr val="accent2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8000"/>
                </a:srgbClr>
              </a:outerShdw>
            </a:effectLst>
          </p:spPr>
          <p:txBody>
            <a:bodyPr/>
            <a:lstStyle/>
            <a:p>
              <a:endParaRPr lang="en-GB"/>
            </a:p>
          </p:txBody>
        </p:sp>
        <p:sp>
          <p:nvSpPr>
            <p:cNvPr id="25" name="Text 3">
              <a:extLst>
                <a:ext uri="{FF2B5EF4-FFF2-40B4-BE49-F238E27FC236}">
                  <a16:creationId xmlns:a16="http://schemas.microsoft.com/office/drawing/2014/main" id="{DF5488B5-1A28-7C2F-DA9F-2EF687EF6D48}"/>
                </a:ext>
              </a:extLst>
            </p:cNvPr>
            <p:cNvSpPr/>
            <p:nvPr/>
          </p:nvSpPr>
          <p:spPr>
            <a:xfrm>
              <a:off x="228600" y="1188720"/>
              <a:ext cx="1463040" cy="1371600"/>
            </a:xfrm>
            <a:prstGeom prst="rect">
              <a:avLst/>
            </a:prstGeom>
            <a:grpFill/>
            <a:ln>
              <a:solidFill>
                <a:schemeClr val="accent2"/>
              </a:solidFill>
            </a:ln>
          </p:spPr>
          <p:txBody>
            <a:bodyPr wrap="square" rtlCol="0" anchor="ctr"/>
            <a:lstStyle/>
            <a:p>
              <a:pPr algn="ctr"/>
              <a:r>
                <a:rPr lang="en-US" sz="1200" b="1" dirty="0"/>
                <a:t>Annie Jain</a:t>
              </a:r>
            </a:p>
            <a:p>
              <a:pPr algn="ctr"/>
              <a:r>
                <a:rPr lang="en-US" sz="1200" b="1" dirty="0"/>
                <a:t>2252767</a:t>
              </a:r>
              <a:endParaRPr lang="en-US" sz="1200" dirty="0"/>
            </a:p>
          </p:txBody>
        </p:sp>
      </p:grpSp>
      <p:sp>
        <p:nvSpPr>
          <p:cNvPr id="21" name="Text 1">
            <a:extLst>
              <a:ext uri="{FF2B5EF4-FFF2-40B4-BE49-F238E27FC236}">
                <a16:creationId xmlns:a16="http://schemas.microsoft.com/office/drawing/2014/main" id="{DD6A7F6B-B849-7C27-DA9F-CD5F17CEBB0F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         Credits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1836104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69</TotalTime>
  <Words>1283</Words>
  <Application>Microsoft Office PowerPoint</Application>
  <PresentationFormat>On-screen Show (16:9)</PresentationFormat>
  <Paragraphs>245</Paragraphs>
  <Slides>14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Mars IoT Platform</dc:title>
  <dc:subject>PptxGenJS Presentation</dc:subject>
  <dc:creator>PptxGenJS</dc:creator>
  <cp:lastModifiedBy>Dakshita Minocha</cp:lastModifiedBy>
  <cp:revision>8</cp:revision>
  <dcterms:created xsi:type="dcterms:W3CDTF">2026-03-10T18:35:54Z</dcterms:created>
  <dcterms:modified xsi:type="dcterms:W3CDTF">2026-03-10T22:03:16Z</dcterms:modified>
</cp:coreProperties>
</file>
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4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697"/>
    <a:srgbClr val="0A152F"/>
    <a:srgbClr val="0B0F1A"/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5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787C5-CFEA-220C-AB72-3AE7CE39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31A59-4E92-BCA3-1AB4-068827A6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97236-54FD-13DF-8616-91B4FCAB0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C58E1-15F6-2372-4DA1-4FCD191F3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kern="0" spc="200" dirty="0">
                <a:solidFill>
                  <a:srgbClr val="8899AA"/>
                </a:solidFill>
              </a:rPr>
              <a:t>SAPIENZA UNIVERSITÀ DI ROMA · LAB ADVANCED PROGRAMMING 2025/2026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Platform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274320" y="31089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sensor ingestion, event-driven automation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real-time habitat monitoring — from Mars.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1097280"/>
            <a:ext cx="2286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583680" y="1143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58368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Microservices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2286000"/>
            <a:ext cx="2286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58368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58368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Sensor Sources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0" y="3474720"/>
            <a:ext cx="2286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583680" y="3520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58368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Actuators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Hackathon Exam  ·  5 March 2026  ·  Team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Mission Overview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8595360" cy="105156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7E22"/>
                </a:solidFill>
              </a:rPr>
              <a:t>Year 2036. </a:t>
            </a:r>
            <a:r>
              <a:rPr lang="en-US" sz="1250" dirty="0">
                <a:solidFill>
                  <a:srgbClr val="E8ECF2"/>
                </a:solidFill>
              </a:rPr>
              <a:t>You've been accidentally shipped to Mars while sleeping at your desk. The habitat automation stack is partially destroyed. Devices speak incompatible dialects — some stream telemetry, others respond only to polling. Your mission: rebuild the platform before thermodynamic consequences catch up.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4320" y="210312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8899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274320" y="2103120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1945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0"/>
                </a:solidFill>
              </a:rPr>
              <a:t>Ingest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11480" y="3200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30"/>
                </a:solidFill>
              </a:rPr>
              <a:t>Poll REST sensors &amp; consume telemetry streams from 15 heterogeneous devices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154680" y="210312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8899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3154680" y="2103120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1945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0"/>
                </a:solidFill>
              </a:rPr>
              <a:t>Automate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291840" y="3200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30"/>
                </a:solidFill>
              </a:rPr>
              <a:t>Evaluate IF-THEN rules on every incoming event and trigger actuator commands in real time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210312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8899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6035040" y="2103120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19456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350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0"/>
                </a:solidFill>
              </a:rPr>
              <a:t>Monitor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172200" y="3200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30"/>
                </a:solidFill>
              </a:rPr>
              <a:t>Serve a live dashboard with sensor state, actuator status, and rule management UI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Mars Automation Platform  ·  Lab Advanced Programming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1628820" y="1728720"/>
            <a:ext cx="4114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F1D40FC6-6867-8502-AF8E-4D3A8210D5FF}"/>
              </a:ext>
            </a:extLst>
          </p:cNvPr>
          <p:cNvSpPr/>
          <p:nvPr/>
        </p:nvSpPr>
        <p:spPr>
          <a:xfrm>
            <a:off x="3480300" y="1728720"/>
            <a:ext cx="4114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7781CF12-A035-3148-C6A0-DCC97647F83C}"/>
              </a:ext>
            </a:extLst>
          </p:cNvPr>
          <p:cNvSpPr/>
          <p:nvPr/>
        </p:nvSpPr>
        <p:spPr>
          <a:xfrm>
            <a:off x="5292000" y="1728720"/>
            <a:ext cx="4114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4C2625DE-921B-5671-23BF-6ECCCCC801E1}"/>
              </a:ext>
            </a:extLst>
          </p:cNvPr>
          <p:cNvSpPr/>
          <p:nvPr/>
        </p:nvSpPr>
        <p:spPr>
          <a:xfrm>
            <a:off x="7103700" y="1728720"/>
            <a:ext cx="4114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3B558AD-A795-2076-C78C-73D12E1223F5}"/>
              </a:ext>
            </a:extLst>
          </p:cNvPr>
          <p:cNvGrpSpPr/>
          <p:nvPr/>
        </p:nvGrpSpPr>
        <p:grpSpPr>
          <a:xfrm>
            <a:off x="228600" y="1188720"/>
            <a:ext cx="1440000" cy="1080000"/>
            <a:chOff x="228600" y="1188720"/>
            <a:chExt cx="1463040" cy="1371600"/>
          </a:xfrm>
        </p:grpSpPr>
        <p:sp>
          <p:nvSpPr>
            <p:cNvPr id="5" name="Shape 2"/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solidFill>
              <a:srgbClr val="0D1B3E"/>
            </a:solidFill>
            <a:ln w="25400">
              <a:solidFill>
                <a:srgbClr val="8899A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 3"/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Sensors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(provided)</a:t>
              </a:r>
              <a:endParaRPr lang="en-US" sz="1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E9C093B-E49A-FCB4-AB38-74CA42051CFB}"/>
              </a:ext>
            </a:extLst>
          </p:cNvPr>
          <p:cNvGrpSpPr/>
          <p:nvPr/>
        </p:nvGrpSpPr>
        <p:grpSpPr>
          <a:xfrm>
            <a:off x="2040300" y="1188720"/>
            <a:ext cx="1440000" cy="1080000"/>
            <a:chOff x="1874520" y="1188720"/>
            <a:chExt cx="1463040" cy="1371600"/>
          </a:xfrm>
        </p:grpSpPr>
        <p:sp>
          <p:nvSpPr>
            <p:cNvPr id="8" name="Shape 5"/>
            <p:cNvSpPr/>
            <p:nvPr/>
          </p:nvSpPr>
          <p:spPr>
            <a:xfrm>
              <a:off x="1874520" y="1188720"/>
              <a:ext cx="1463040" cy="1371600"/>
            </a:xfrm>
            <a:prstGeom prst="rect">
              <a:avLst/>
            </a:prstGeom>
            <a:solidFill>
              <a:srgbClr val="0D1B3E"/>
            </a:solidFill>
            <a:ln w="25400">
              <a:solidFill>
                <a:srgbClr val="1ABC9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 6"/>
            <p:cNvSpPr/>
            <p:nvPr/>
          </p:nvSpPr>
          <p:spPr>
            <a:xfrm>
              <a:off x="1874520" y="1188720"/>
              <a:ext cx="146304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Integration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Service</a:t>
              </a:r>
              <a:endParaRPr lang="en-US" sz="12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787F84-196F-C470-15AD-A15EB472C49C}"/>
              </a:ext>
            </a:extLst>
          </p:cNvPr>
          <p:cNvGrpSpPr/>
          <p:nvPr/>
        </p:nvGrpSpPr>
        <p:grpSpPr>
          <a:xfrm>
            <a:off x="3852000" y="1235552"/>
            <a:ext cx="1440000" cy="1080000"/>
            <a:chOff x="5166360" y="1188720"/>
            <a:chExt cx="1463040" cy="1371600"/>
          </a:xfrm>
        </p:grpSpPr>
        <p:sp>
          <p:nvSpPr>
            <p:cNvPr id="14" name="Shape 11"/>
            <p:cNvSpPr/>
            <p:nvPr/>
          </p:nvSpPr>
          <p:spPr>
            <a:xfrm>
              <a:off x="5166360" y="1188720"/>
              <a:ext cx="1463040" cy="1371600"/>
            </a:xfrm>
            <a:prstGeom prst="rect">
              <a:avLst/>
            </a:prstGeom>
            <a:solidFill>
              <a:srgbClr val="0D1B3E"/>
            </a:solidFill>
            <a:ln w="25400">
              <a:solidFill>
                <a:srgbClr val="1ABC9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 12"/>
            <p:cNvSpPr/>
            <p:nvPr/>
          </p:nvSpPr>
          <p:spPr>
            <a:xfrm>
              <a:off x="5166360" y="1188720"/>
              <a:ext cx="146304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Automation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Engine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Service</a:t>
              </a:r>
              <a:endParaRPr lang="en-US" sz="12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63E4F50-FC02-0028-8CE7-E5A3F1E00E99}"/>
              </a:ext>
            </a:extLst>
          </p:cNvPr>
          <p:cNvGrpSpPr/>
          <p:nvPr/>
        </p:nvGrpSpPr>
        <p:grpSpPr>
          <a:xfrm>
            <a:off x="5663700" y="1234996"/>
            <a:ext cx="1440000" cy="1080000"/>
            <a:chOff x="6812280" y="1188720"/>
            <a:chExt cx="1463040" cy="1371600"/>
          </a:xfrm>
        </p:grpSpPr>
        <p:sp>
          <p:nvSpPr>
            <p:cNvPr id="17" name="Shape 14"/>
            <p:cNvSpPr/>
            <p:nvPr/>
          </p:nvSpPr>
          <p:spPr>
            <a:xfrm>
              <a:off x="6812280" y="1188720"/>
              <a:ext cx="1463040" cy="1371600"/>
            </a:xfrm>
            <a:prstGeom prst="rect">
              <a:avLst/>
            </a:prstGeom>
            <a:solidFill>
              <a:srgbClr val="0D1B3E"/>
            </a:solidFill>
            <a:ln w="25400">
              <a:solidFill>
                <a:srgbClr val="C0392B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 15"/>
            <p:cNvSpPr/>
            <p:nvPr/>
          </p:nvSpPr>
          <p:spPr>
            <a:xfrm>
              <a:off x="6812280" y="1188720"/>
              <a:ext cx="146304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Actuator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Service</a:t>
              </a:r>
              <a:endParaRPr lang="en-US" sz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EB22E9F-06D2-F533-150D-AF6FBADF17DB}"/>
              </a:ext>
            </a:extLst>
          </p:cNvPr>
          <p:cNvGrpSpPr/>
          <p:nvPr/>
        </p:nvGrpSpPr>
        <p:grpSpPr>
          <a:xfrm>
            <a:off x="1543230" y="2958019"/>
            <a:ext cx="1440000" cy="1080000"/>
            <a:chOff x="1097280" y="3063240"/>
            <a:chExt cx="1737360" cy="1051560"/>
          </a:xfrm>
        </p:grpSpPr>
        <p:sp>
          <p:nvSpPr>
            <p:cNvPr id="19" name="Shape 16"/>
            <p:cNvSpPr/>
            <p:nvPr/>
          </p:nvSpPr>
          <p:spPr>
            <a:xfrm>
              <a:off x="1097280" y="3063240"/>
              <a:ext cx="1737360" cy="1051560"/>
            </a:xfrm>
            <a:prstGeom prst="rect">
              <a:avLst/>
            </a:prstGeom>
            <a:solidFill>
              <a:srgbClr val="0D1B3E"/>
            </a:solidFill>
            <a:ln w="19050">
              <a:solidFill>
                <a:srgbClr val="1ABC9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 17"/>
            <p:cNvSpPr/>
            <p:nvPr/>
          </p:nvSpPr>
          <p:spPr>
            <a:xfrm>
              <a:off x="1097280" y="3063240"/>
              <a:ext cx="173736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Rulebook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Service</a:t>
              </a:r>
              <a:endParaRPr lang="en-US" sz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04F5D93-6394-A3E0-2A6C-85CCF0A2056D}"/>
              </a:ext>
            </a:extLst>
          </p:cNvPr>
          <p:cNvGrpSpPr/>
          <p:nvPr/>
        </p:nvGrpSpPr>
        <p:grpSpPr>
          <a:xfrm>
            <a:off x="5498010" y="2958019"/>
            <a:ext cx="1440000" cy="1080000"/>
            <a:chOff x="4572000" y="3086100"/>
            <a:chExt cx="1737360" cy="1051560"/>
          </a:xfrm>
        </p:grpSpPr>
        <p:sp>
          <p:nvSpPr>
            <p:cNvPr id="21" name="Shape 18"/>
            <p:cNvSpPr/>
            <p:nvPr/>
          </p:nvSpPr>
          <p:spPr>
            <a:xfrm>
              <a:off x="4572000" y="3086100"/>
              <a:ext cx="1737360" cy="1051560"/>
            </a:xfrm>
            <a:prstGeom prst="rect">
              <a:avLst/>
            </a:prstGeom>
            <a:solidFill>
              <a:srgbClr val="0D1B3E"/>
            </a:solidFill>
            <a:ln w="19050">
              <a:solidFill>
                <a:srgbClr val="E67E2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 19"/>
            <p:cNvSpPr/>
            <p:nvPr/>
          </p:nvSpPr>
          <p:spPr>
            <a:xfrm>
              <a:off x="4572000" y="3086100"/>
              <a:ext cx="173736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Nginx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API Gateway</a:t>
              </a:r>
              <a:endParaRPr lang="en-US" sz="1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4BC311F-13AE-C946-CACF-86F94B531C21}"/>
              </a:ext>
            </a:extLst>
          </p:cNvPr>
          <p:cNvGrpSpPr/>
          <p:nvPr/>
        </p:nvGrpSpPr>
        <p:grpSpPr>
          <a:xfrm>
            <a:off x="7475400" y="2958019"/>
            <a:ext cx="1440000" cy="1080000"/>
            <a:chOff x="7132320" y="3086100"/>
            <a:chExt cx="1737360" cy="1051560"/>
          </a:xfrm>
        </p:grpSpPr>
        <p:sp>
          <p:nvSpPr>
            <p:cNvPr id="23" name="Shape 20"/>
            <p:cNvSpPr/>
            <p:nvPr/>
          </p:nvSpPr>
          <p:spPr>
            <a:xfrm>
              <a:off x="7132320" y="3086100"/>
              <a:ext cx="1737360" cy="1051560"/>
            </a:xfrm>
            <a:prstGeom prst="rect">
              <a:avLst/>
            </a:prstGeom>
            <a:solidFill>
              <a:srgbClr val="0D1B3E"/>
            </a:solidFill>
            <a:ln w="19050">
              <a:solidFill>
                <a:srgbClr val="C0392B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 21"/>
            <p:cNvSpPr/>
            <p:nvPr/>
          </p:nvSpPr>
          <p:spPr>
            <a:xfrm>
              <a:off x="7132320" y="3086100"/>
              <a:ext cx="173736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Frontend</a:t>
              </a:r>
              <a:endParaRPr lang="en-US" sz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1E788BA-3206-F521-19BB-563C0C7C77F0}"/>
              </a:ext>
            </a:extLst>
          </p:cNvPr>
          <p:cNvGrpSpPr/>
          <p:nvPr/>
        </p:nvGrpSpPr>
        <p:grpSpPr>
          <a:xfrm>
            <a:off x="228600" y="2958458"/>
            <a:ext cx="777240" cy="1080000"/>
            <a:chOff x="182880" y="3082143"/>
            <a:chExt cx="777240" cy="1080000"/>
          </a:xfrm>
        </p:grpSpPr>
        <p:sp>
          <p:nvSpPr>
            <p:cNvPr id="25" name="Shape 22"/>
            <p:cNvSpPr/>
            <p:nvPr/>
          </p:nvSpPr>
          <p:spPr>
            <a:xfrm>
              <a:off x="182880" y="3082143"/>
              <a:ext cx="777240" cy="1080000"/>
            </a:xfrm>
            <a:prstGeom prst="rect">
              <a:avLst/>
            </a:prstGeom>
            <a:solidFill>
              <a:srgbClr val="0D1B3E"/>
            </a:solidFill>
            <a:ln w="12700">
              <a:solidFill>
                <a:srgbClr val="8899A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pic>
          <p:nvPicPr>
            <p:cNvPr id="2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900" y="3214962"/>
              <a:ext cx="457200" cy="457200"/>
            </a:xfrm>
            <a:prstGeom prst="rect">
              <a:avLst/>
            </a:prstGeom>
          </p:spPr>
        </p:pic>
        <p:sp>
          <p:nvSpPr>
            <p:cNvPr id="27" name="Text 23"/>
            <p:cNvSpPr/>
            <p:nvPr/>
          </p:nvSpPr>
          <p:spPr>
            <a:xfrm>
              <a:off x="182880" y="3671820"/>
              <a:ext cx="7772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Postgres</a:t>
              </a:r>
              <a:endParaRPr lang="en-US" sz="12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591AA19-E81D-22FD-C38C-841505992671}"/>
              </a:ext>
            </a:extLst>
          </p:cNvPr>
          <p:cNvGrpSpPr/>
          <p:nvPr/>
        </p:nvGrpSpPr>
        <p:grpSpPr>
          <a:xfrm>
            <a:off x="3520620" y="2958019"/>
            <a:ext cx="1440000" cy="1080000"/>
            <a:chOff x="3520620" y="2958019"/>
            <a:chExt cx="1440000" cy="108000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9AB34ED-0729-1287-4D3A-A8FF6882E39C}"/>
                </a:ext>
              </a:extLst>
            </p:cNvPr>
            <p:cNvGrpSpPr/>
            <p:nvPr/>
          </p:nvGrpSpPr>
          <p:grpSpPr>
            <a:xfrm>
              <a:off x="3520620" y="2958019"/>
              <a:ext cx="1440000" cy="1080000"/>
              <a:chOff x="3075109" y="3082143"/>
              <a:chExt cx="1463040" cy="1080000"/>
            </a:xfrm>
          </p:grpSpPr>
          <p:sp>
            <p:nvSpPr>
              <p:cNvPr id="11" name="Shape 8"/>
              <p:cNvSpPr/>
              <p:nvPr/>
            </p:nvSpPr>
            <p:spPr>
              <a:xfrm>
                <a:off x="3075109" y="3082143"/>
                <a:ext cx="1463040" cy="1080000"/>
              </a:xfrm>
              <a:prstGeom prst="rect">
                <a:avLst/>
              </a:prstGeom>
              <a:solidFill>
                <a:srgbClr val="0D1B3E"/>
              </a:solidFill>
              <a:ln w="25400">
                <a:solidFill>
                  <a:srgbClr val="E67E22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Text 9"/>
              <p:cNvSpPr/>
              <p:nvPr/>
            </p:nvSpPr>
            <p:spPr>
              <a:xfrm>
                <a:off x="3075109" y="3082143"/>
                <a:ext cx="1463040" cy="10800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Kafka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Broker</a:t>
                </a:r>
                <a:endParaRPr lang="en-US" sz="1200" dirty="0"/>
              </a:p>
            </p:txBody>
          </p:sp>
        </p:grpSp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07743" y="3089549"/>
              <a:ext cx="342461" cy="342461"/>
            </a:xfrm>
            <a:prstGeom prst="rect">
              <a:avLst/>
            </a:prstGeom>
          </p:spPr>
        </p:pic>
      </p:grpSp>
      <p:sp>
        <p:nvSpPr>
          <p:cNvPr id="29" name="Text 24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DBMS ── REST  ──  Kafka  ──  SSE  ──  HTTP proxy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Mars Automation Platform  ·  Lab Advanced Programming 2025/2026</a:t>
            </a:r>
            <a:endParaRPr lang="en-US" sz="12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5DB041-B280-C7B6-00BD-E8C2E7790533}"/>
              </a:ext>
            </a:extLst>
          </p:cNvPr>
          <p:cNvGrpSpPr/>
          <p:nvPr/>
        </p:nvGrpSpPr>
        <p:grpSpPr>
          <a:xfrm>
            <a:off x="7475400" y="1235552"/>
            <a:ext cx="1440000" cy="1080000"/>
            <a:chOff x="228600" y="1188720"/>
            <a:chExt cx="1463040" cy="1371600"/>
          </a:xfrm>
        </p:grpSpPr>
        <p:sp>
          <p:nvSpPr>
            <p:cNvPr id="43" name="Shape 2">
              <a:extLst>
                <a:ext uri="{FF2B5EF4-FFF2-40B4-BE49-F238E27FC236}">
                  <a16:creationId xmlns:a16="http://schemas.microsoft.com/office/drawing/2014/main" id="{9C0B4D9F-275A-244C-3C2B-3BA3162AC348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solidFill>
              <a:srgbClr val="0D1B3E"/>
            </a:solidFill>
            <a:ln w="25400">
              <a:solidFill>
                <a:srgbClr val="8899A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Text 3">
              <a:extLst>
                <a:ext uri="{FF2B5EF4-FFF2-40B4-BE49-F238E27FC236}">
                  <a16:creationId xmlns:a16="http://schemas.microsoft.com/office/drawing/2014/main" id="{03CFCB13-CEC2-91BB-E586-C1688BE46E12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Actuators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(provided)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3D4FCFD-751A-5570-E830-2159F6B4A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58676"/>
            <a:ext cx="9144000" cy="4984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6F565C79-85DE-9D6B-7192-E0B4EE9FD4B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	C4 Component Diagram</a:t>
            </a:r>
            <a:endParaRPr lang="en-US" sz="22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E3ED9887-FE4A-448D-F9D7-7EB7CB304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4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Microservices Breakdown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82880" y="822960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82880" y="822960"/>
            <a:ext cx="420624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74320" y="822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ms-integration  :8080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0" y="822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Java · Spring Boot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2344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Polls 8 REST sensors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" y="1645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Consumes 7 SSE telemetry topics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" y="2057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Publishes normalized events</a:t>
            </a:r>
          </a:p>
        </p:txBody>
      </p:sp>
      <p:sp>
        <p:nvSpPr>
          <p:cNvPr id="12" name="Shape 9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754880" y="822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ms-automation  :8001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23760" y="822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Python · </a:t>
            </a:r>
            <a:r>
              <a:rPr lang="en-US" sz="1200" dirty="0" err="1">
                <a:solidFill>
                  <a:srgbClr val="FFFFFF"/>
                </a:solidFill>
              </a:rPr>
              <a:t>FastAPI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00600" y="12344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Consumes Kafka sensor events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00600" y="1645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Evaluates IF-THEN rules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00600" y="2057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Publishes actuator commands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82880" y="2834640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182880" y="2834640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274320" y="2834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ms-rulebook  :8003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743200" y="2834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Python · FastAPI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" y="3246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CRUD API for automation rules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20040" y="3657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Persists rules in PostgreSQL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663440" y="2834640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4663440" y="2834640"/>
            <a:ext cx="420624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754880" y="2834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ms</a:t>
            </a:r>
            <a:r>
              <a:rPr lang="en-US" sz="1200" b="1" dirty="0">
                <a:solidFill>
                  <a:srgbClr val="FFFFFF"/>
                </a:solidFill>
              </a:rPr>
              <a:t>-actuators  :8004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223760" y="2834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Python · FastAPI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00600" y="3246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Consumes actuator commands from Kafka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800600" y="3657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Calls simulator REST API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800600" y="4069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</a:rPr>
              <a:t>Exposes SSE stream of actuator events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Mars Automation Platform  ·  Lab Advanced Programming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Automation Engine (Python)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5029200" cy="1371600"/>
          </a:xfrm>
          <a:prstGeom prst="rect">
            <a:avLst/>
          </a:prstGeom>
          <a:solidFill>
            <a:srgbClr val="0D1B3E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Rule Syntax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&lt;sensor&gt;.&lt;metric&gt; &lt;op&gt; &lt;value&gt;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SET &lt;actuator&gt; TO ON|OFF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 IF </a:t>
            </a:r>
            <a:r>
              <a:rPr lang="en-US" sz="1200" dirty="0" err="1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greenhouse_temperature.temperature_c</a:t>
            </a:r>
            <a:r>
              <a:rPr lang="en-US" sz="120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28</a:t>
            </a:r>
            <a:br>
              <a:rPr lang="en-US" sz="120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0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THEN SET cooling_fan TO 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822960"/>
            <a:ext cx="3383280" cy="137160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623560" y="822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</a:rPr>
              <a:t>Supported Operators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23560" y="1188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  &lt;=   =   &gt;=   &gt;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62356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Evaluated on every sensor event arrival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28600" y="2468880"/>
            <a:ext cx="2057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8899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228600" y="2468880"/>
            <a:ext cx="64008" cy="2194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50" y="2560319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0"/>
                </a:solidFill>
              </a:rPr>
              <a:t>Kafka Consumer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20040" y="3611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30"/>
                </a:solidFill>
              </a:rPr>
              <a:t>Consumes </a:t>
            </a:r>
            <a:r>
              <a:rPr lang="en-US" sz="1200" dirty="0" err="1">
                <a:solidFill>
                  <a:srgbClr val="1A2030"/>
                </a:solidFill>
              </a:rPr>
              <a:t>MeasurementEvents</a:t>
            </a:r>
            <a:r>
              <a:rPr lang="en-US" sz="1200" dirty="0">
                <a:solidFill>
                  <a:srgbClr val="1A2030"/>
                </a:solidFill>
              </a:rPr>
              <a:t> from the </a:t>
            </a:r>
            <a:r>
              <a:rPr lang="en-US" sz="1200" i="1" dirty="0">
                <a:solidFill>
                  <a:srgbClr val="1A2030"/>
                </a:solidFill>
              </a:rPr>
              <a:t>measurements</a:t>
            </a:r>
            <a:r>
              <a:rPr lang="en-US" sz="1200" dirty="0">
                <a:solidFill>
                  <a:srgbClr val="1A2030"/>
                </a:solidFill>
              </a:rPr>
              <a:t> Kafka topic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286000" y="3566160"/>
            <a:ext cx="118872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2404872" y="2468880"/>
            <a:ext cx="2057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8899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2404872" y="2468880"/>
            <a:ext cx="64008" cy="2194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56032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496312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0"/>
                </a:solidFill>
              </a:rPr>
              <a:t>Rule Evaluation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496312" y="3611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30"/>
                </a:solidFill>
              </a:rPr>
              <a:t>Loads rules, matches sensor and metrics, evaluates operator &amp; threshold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462272" y="3566160"/>
            <a:ext cx="118872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4581144" y="2468880"/>
            <a:ext cx="2057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8899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4581144" y="2468880"/>
            <a:ext cx="64008" cy="2194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2560319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672584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0"/>
                </a:solidFill>
              </a:rPr>
              <a:t>Kafka Producer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672584" y="3611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30"/>
                </a:solidFill>
              </a:rPr>
              <a:t>Publishes </a:t>
            </a:r>
            <a:r>
              <a:rPr lang="en-US" sz="1200" dirty="0" err="1">
                <a:solidFill>
                  <a:srgbClr val="1A2030"/>
                </a:solidFill>
              </a:rPr>
              <a:t>ActuatorCommands</a:t>
            </a:r>
            <a:r>
              <a:rPr lang="en-US" sz="1200" dirty="0">
                <a:solidFill>
                  <a:srgbClr val="1A2030"/>
                </a:solidFill>
              </a:rPr>
              <a:t> to the </a:t>
            </a:r>
            <a:r>
              <a:rPr lang="en-US" sz="1200" i="1" dirty="0" err="1">
                <a:solidFill>
                  <a:srgbClr val="1A2030"/>
                </a:solidFill>
              </a:rPr>
              <a:t>actuators.automation</a:t>
            </a:r>
            <a:r>
              <a:rPr lang="en-US" sz="1200" dirty="0">
                <a:solidFill>
                  <a:srgbClr val="1A2030"/>
                </a:solidFill>
              </a:rPr>
              <a:t> Kafka topic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638544" y="3566160"/>
            <a:ext cx="118872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6757416" y="2468880"/>
            <a:ext cx="2057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8899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6"/>
          <p:cNvSpPr/>
          <p:nvPr/>
        </p:nvSpPr>
        <p:spPr>
          <a:xfrm>
            <a:off x="6757416" y="2468880"/>
            <a:ext cx="64008" cy="2194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660" y="2560319"/>
            <a:ext cx="502920" cy="5029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48856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0"/>
                </a:solidFill>
              </a:rPr>
              <a:t>Live Actuator Interaction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848856" y="3611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rgbClr val="1A2030"/>
                </a:solidFill>
              </a:rPr>
              <a:t>ms</a:t>
            </a:r>
            <a:r>
              <a:rPr lang="en-US" sz="1200" i="1" dirty="0">
                <a:solidFill>
                  <a:srgbClr val="1A2030"/>
                </a:solidFill>
              </a:rPr>
              <a:t>-actuators</a:t>
            </a:r>
            <a:r>
              <a:rPr lang="en-US" sz="1200" dirty="0">
                <a:solidFill>
                  <a:srgbClr val="1A2030"/>
                </a:solidFill>
              </a:rPr>
              <a:t> service applies </a:t>
            </a:r>
            <a:r>
              <a:rPr lang="en-US" sz="1200" dirty="0" err="1">
                <a:solidFill>
                  <a:srgbClr val="1A2030"/>
                </a:solidFill>
              </a:rPr>
              <a:t>actuactor</a:t>
            </a:r>
            <a:r>
              <a:rPr lang="en-US" sz="1200" dirty="0">
                <a:solidFill>
                  <a:srgbClr val="1A2030"/>
                </a:solidFill>
              </a:rPr>
              <a:t> commands and notifies the dashboard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Mars Automation Platform  ·  Lab Advanced Programming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0F1A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Infrastructure &amp; DevOps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137160" y="777240"/>
            <a:ext cx="201168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3716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48840" y="777240"/>
            <a:ext cx="219456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148840" y="777240"/>
            <a:ext cx="21945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 / Stack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777240"/>
            <a:ext cx="420624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343400" y="777240"/>
            <a:ext cx="42062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7160" y="1097280"/>
            <a:ext cx="201168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82880" y="1097280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kafka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148840" y="1097280"/>
            <a:ext cx="219456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194560" y="1097280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apache/kafka:3.9.0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43400" y="1097280"/>
            <a:ext cx="420624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389120" y="1097280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KRaft mode, single broker, auto-create topics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37160" y="1499616"/>
            <a:ext cx="201168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182880" y="149961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postgres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148840" y="1499616"/>
            <a:ext cx="219456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194560" y="149961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postgres:16-alpine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43400" y="1499616"/>
            <a:ext cx="420624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389120" y="1499616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Persists automation rules; init scripts in /source/postgres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37160" y="1901952"/>
            <a:ext cx="201168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82880" y="190195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simulator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148840" y="1901952"/>
            <a:ext cx="219456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2194560" y="1901952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mars-iot-simulator:v1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43400" y="1901952"/>
            <a:ext cx="420624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389120" y="1901952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Provided — must not be modified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37160" y="2304288"/>
            <a:ext cx="201168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182880" y="230428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ms-integration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148840" y="2304288"/>
            <a:ext cx="219456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2194560" y="2304288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Java · Spring Boot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343400" y="2304288"/>
            <a:ext cx="420624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4389120" y="2304288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Polls REST + SSE telemetry → Kafka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37160" y="2706624"/>
            <a:ext cx="201168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182880" y="2706624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ms-automation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148840" y="2706624"/>
            <a:ext cx="219456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2194560" y="2706624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Python · </a:t>
            </a:r>
            <a:r>
              <a:rPr lang="en-US" sz="1200" dirty="0" err="1">
                <a:solidFill>
                  <a:srgbClr val="E8ECF2"/>
                </a:solidFill>
              </a:rPr>
              <a:t>FastAPI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343400" y="2706624"/>
            <a:ext cx="420624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4389120" y="2706624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Rule engine; consumes/produces Kafka; REST + SSE out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137160" y="3108960"/>
            <a:ext cx="201168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182880" y="3108960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ms-rulebook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2148840" y="3108960"/>
            <a:ext cx="219456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2194560" y="3108960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Python · FastAPI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343400" y="3108960"/>
            <a:ext cx="420624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4389120" y="3108960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CRUD rules API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137160" y="3511296"/>
            <a:ext cx="201168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182880" y="351129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BC9C"/>
                </a:solidFill>
              </a:rPr>
              <a:t>ms</a:t>
            </a:r>
            <a:r>
              <a:rPr lang="en-US" sz="1200" b="1" dirty="0">
                <a:solidFill>
                  <a:srgbClr val="1ABC9C"/>
                </a:solidFill>
              </a:rPr>
              <a:t>-actuators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2148840" y="3511296"/>
            <a:ext cx="219456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2194560" y="351129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Python · FastAPI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4343400" y="3511296"/>
            <a:ext cx="420624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4389120" y="3511296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Kafka consumer → simulator REST; SSE stream out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137160" y="3913632"/>
            <a:ext cx="201168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182880" y="391363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frontend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2148840" y="3913632"/>
            <a:ext cx="219456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3"/>
          <p:cNvSpPr/>
          <p:nvPr/>
        </p:nvSpPr>
        <p:spPr>
          <a:xfrm>
            <a:off x="2194560" y="3913632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Node (React build)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4343400" y="3913632"/>
            <a:ext cx="420624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4389120" y="3913632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SPA served on :3001 internally, proxied by Nginx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137160" y="4315968"/>
            <a:ext cx="201168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/>
          <p:nvPr/>
        </p:nvSpPr>
        <p:spPr>
          <a:xfrm>
            <a:off x="182880" y="431596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nginx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2148840" y="4315968"/>
            <a:ext cx="219456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2194560" y="4315968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nginx:1.25-alpine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343400" y="4315968"/>
            <a:ext cx="4206240" cy="393192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4389120" y="4315968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API gateway on :80; routes rules/actuators/integration/SPA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Mars Automation Platform  ·  Lab Advanced Programming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Nginx API Gateway &amp; Routing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82880" y="822960"/>
            <a:ext cx="1828800" cy="3931920"/>
          </a:xfrm>
          <a:prstGeom prst="rect">
            <a:avLst/>
          </a:prstGeom>
          <a:solidFill>
            <a:srgbClr val="0D1B3E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Nginx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:80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82880" y="22860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Single public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entry point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gzip + SSE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buffering config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011680" y="1234440"/>
            <a:ext cx="36576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6"/>
          <p:cNvSpPr/>
          <p:nvPr/>
        </p:nvSpPr>
        <p:spPr>
          <a:xfrm>
            <a:off x="2377440" y="914400"/>
            <a:ext cx="64922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7"/>
          <p:cNvSpPr/>
          <p:nvPr/>
        </p:nvSpPr>
        <p:spPr>
          <a:xfrm>
            <a:off x="2377440" y="914400"/>
            <a:ext cx="64008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2514600" y="941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/api/rules/*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14600" y="1252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ms-rulebook:8003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6072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030"/>
                </a:solidFill>
              </a:rPr>
              <a:t>CRUD rule management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11680" y="1984248"/>
            <a:ext cx="3657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2377440" y="1664208"/>
            <a:ext cx="64922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2377440" y="1664208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251460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/api/actuators/stream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514600" y="20025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ms-actuators:8004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760720" y="175564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030"/>
                </a:solidFill>
              </a:rPr>
              <a:t>SSE stream (buffering OFF)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011680" y="2734056"/>
            <a:ext cx="3657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2377440" y="2414016"/>
            <a:ext cx="64922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9"/>
          <p:cNvSpPr/>
          <p:nvPr/>
        </p:nvSpPr>
        <p:spPr>
          <a:xfrm>
            <a:off x="2377440" y="2414016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2514600" y="24414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/api/actuators/*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514600" y="27523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ms-actuators:8004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760720" y="250545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030"/>
                </a:solidFill>
              </a:rPr>
              <a:t>Manual actuator control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011680" y="3483864"/>
            <a:ext cx="36576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4"/>
          <p:cNvSpPr/>
          <p:nvPr/>
        </p:nvSpPr>
        <p:spPr>
          <a:xfrm>
            <a:off x="2377440" y="3163824"/>
            <a:ext cx="64922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5"/>
          <p:cNvSpPr/>
          <p:nvPr/>
        </p:nvSpPr>
        <p:spPr>
          <a:xfrm>
            <a:off x="2377440" y="3163824"/>
            <a:ext cx="64008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6"/>
          <p:cNvSpPr/>
          <p:nvPr/>
        </p:nvSpPr>
        <p:spPr>
          <a:xfrm>
            <a:off x="2514600" y="31912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/api/integration/*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2514600" y="35021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ms-integration:8080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760720" y="32552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030"/>
                </a:solidFill>
              </a:rPr>
              <a:t>Sensor state &amp; polling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2011680" y="4233672"/>
            <a:ext cx="36576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0"/>
          <p:cNvSpPr/>
          <p:nvPr/>
        </p:nvSpPr>
        <p:spPr>
          <a:xfrm>
            <a:off x="2377440" y="3913632"/>
            <a:ext cx="64922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1"/>
          <p:cNvSpPr/>
          <p:nvPr/>
        </p:nvSpPr>
        <p:spPr>
          <a:xfrm>
            <a:off x="2377440" y="3913632"/>
            <a:ext cx="64008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2"/>
          <p:cNvSpPr/>
          <p:nvPr/>
        </p:nvSpPr>
        <p:spPr>
          <a:xfrm>
            <a:off x="2514600" y="39410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(catch-all)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2514600" y="4251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frontend:3000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5760720" y="40050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030"/>
                </a:solidFill>
              </a:rPr>
              <a:t>React SPA + WS upgrade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Mars Automation Platform  ·  Lab Advanced Programming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82880" y="822960"/>
            <a:ext cx="2788920" cy="393192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82880" y="822960"/>
            <a:ext cx="278892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" y="98755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" y="15087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2004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Java 21 + Spring Boot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20040" y="2441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Python 3.12 + </a:t>
            </a:r>
            <a:r>
              <a:rPr lang="en-US" sz="1400" dirty="0" err="1">
                <a:solidFill>
                  <a:srgbClr val="E8ECF2"/>
                </a:solidFill>
              </a:rPr>
              <a:t>FastAPI</a:t>
            </a:r>
            <a:r>
              <a:rPr lang="en-US" sz="1400" dirty="0">
                <a:solidFill>
                  <a:srgbClr val="E8ECF2"/>
                </a:solidFill>
              </a:rPr>
              <a:t> (×3)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0040" y="29169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Spring Kafka (Java)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0040" y="33924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E8ECF2"/>
                </a:solidFill>
              </a:rPr>
              <a:t>AIOKafka</a:t>
            </a:r>
            <a:r>
              <a:rPr lang="en-US" sz="1400" dirty="0">
                <a:solidFill>
                  <a:srgbClr val="E8ECF2"/>
                </a:solidFill>
              </a:rPr>
              <a:t> (Python)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0040" y="38679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154680" y="818388"/>
            <a:ext cx="2788920" cy="393192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3154680" y="822960"/>
            <a:ext cx="278892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98755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54680" y="15087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Messaging &amp; Storage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29184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Apache Kafka 3.9 (KRaft)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291840" y="2441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PostgreSQL 16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291840" y="29169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In-memory sensor state cache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291840" y="33924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SSE streams (native HTTP)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291840" y="38679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126480" y="822960"/>
            <a:ext cx="2788920" cy="393192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6126480" y="822960"/>
            <a:ext cx="278892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987552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26480" y="15087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 &amp; Gateway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26364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React SPA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263640" y="2441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nginx 1.25-alpine API gateway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263640" y="29169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SSE for real-time updates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263640" y="33924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REST for rule management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263640" y="38679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2"/>
                </a:solidFill>
              </a:rPr>
              <a:t>Docker Compose IaC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Mars Automation Platform  ·  Lab Advanced Programming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 Stories — Dashboard &amp; Monitoring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" y="768096"/>
            <a:ext cx="2011680" cy="21945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228600" y="7680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60320" y="768096"/>
            <a:ext cx="2011680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560320" y="7680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Administrator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92040" y="768096"/>
            <a:ext cx="201168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892040" y="7680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Automation Engineer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2880" y="1069848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182880" y="1069848"/>
            <a:ext cx="54864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944368" y="1133856"/>
            <a:ext cx="1417320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944368" y="113385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0896" y="116128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View a centralized dashboard of all habitat sensors to monitor the overall health of the Mars base.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90288" y="1069848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590288" y="1069848"/>
            <a:ext cx="54864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7351776" y="1133856"/>
            <a:ext cx="1417320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351776" y="113385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18304" y="116128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See the most recent reading from each sensor instantly upon opening the dashboard — no waiting for the next broadcast.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82880" y="1929384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182880" y="1929384"/>
            <a:ext cx="54864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2944368" y="1993392"/>
            <a:ext cx="1417320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2944368" y="199339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10896" y="202082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Sensor data updates automatically without refreshing so I am always looking at live, real-time telemetry.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90288" y="1929384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4590288" y="1929384"/>
            <a:ext cx="54864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7351776" y="1993392"/>
            <a:ext cx="1417320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7351776" y="199339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18304" y="202082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See standardized units and naming conventions for all data, regardless of which device it came from.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82880" y="2788920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182880" y="2788920"/>
            <a:ext cx="54864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2944368" y="2852928"/>
            <a:ext cx="1417320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2944368" y="2852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10896" y="288036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View a live line chart for selected sensors (e.g. greenhouse temperature) while the page is open to track trends.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590288" y="2788920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4590288" y="2788920"/>
            <a:ext cx="54864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7351776" y="2852928"/>
            <a:ext cx="1417320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7351776" y="2852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718304" y="288036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Sensors are grouped by operational domain (Thermal, Power, Air Quality) for fast navigation during an emergency.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182880" y="3648456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182880" y="3648456"/>
            <a:ext cx="54864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2944368" y="3712464"/>
            <a:ext cx="1417320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2944368" y="371246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10896" y="373989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Dashboard displays the exact timestamp of the last data point received so I know if a sensor has gone offline.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4590288" y="3648456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4590288" y="3648456"/>
            <a:ext cx="54864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7351776" y="3712464"/>
            <a:ext cx="1417320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7351776" y="371246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718304" y="373989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A visual indicator flags sensor data older than 5 minutes so I don't mistakenly trust stale telemetry.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Mars Automation Platform  ·  Lab Advanced Programming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 Stories — Automation Rule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82880" y="804672"/>
            <a:ext cx="210312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82880" y="804672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91440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1444752"/>
            <a:ext cx="192024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274320" y="14447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Automation Engineer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4320" y="1700784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CF2"/>
                </a:solidFill>
              </a:rPr>
              <a:t>Create new rules using a simple sentence format (IF sensor op value THEN actuator state).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395728" y="804672"/>
            <a:ext cx="210312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2395728" y="804672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914400"/>
            <a:ext cx="457200" cy="457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487168" y="1444752"/>
            <a:ext cx="192024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2487168" y="14447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Automation Engineer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487168" y="1700784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CF2"/>
                </a:solidFill>
              </a:rPr>
              <a:t>Select sensors and actuators from predefined lists when creating a rule to avoid fatal typing errors.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08576" y="804672"/>
            <a:ext cx="210312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608576" y="804672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914400"/>
            <a:ext cx="457200" cy="457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700016" y="1444752"/>
            <a:ext cx="192024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/>
          <p:nvPr/>
        </p:nvSpPr>
        <p:spPr>
          <a:xfrm>
            <a:off x="4700016" y="14447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Automation Engineer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00016" y="1700784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CF2"/>
                </a:solidFill>
              </a:rPr>
              <a:t>Define rule conditions using standard operators (&lt;, &lt;=, =, &gt;, &gt;=) to set precise environmental thresholds.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821424" y="804672"/>
            <a:ext cx="210312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6821424" y="804672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914400"/>
            <a:ext cx="457200" cy="457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912864" y="1444752"/>
            <a:ext cx="192024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0"/>
          <p:cNvSpPr/>
          <p:nvPr/>
        </p:nvSpPr>
        <p:spPr>
          <a:xfrm>
            <a:off x="6912864" y="14447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Automation Engineer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912864" y="1700784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CF2"/>
                </a:solidFill>
              </a:rPr>
              <a:t>View a list of all currently active rules to audit the habitat's full automated logic at a glance.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182880" y="2743200"/>
            <a:ext cx="210312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182880" y="2743200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2852928"/>
            <a:ext cx="457200" cy="4572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274320" y="3383280"/>
            <a:ext cx="192024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5"/>
          <p:cNvSpPr/>
          <p:nvPr/>
        </p:nvSpPr>
        <p:spPr>
          <a:xfrm>
            <a:off x="274320" y="33832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Automation Engineer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274320" y="3639312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CF2"/>
                </a:solidFill>
              </a:rPr>
              <a:t>Delete automation rules to permanently remove outdated or dangerous logic from the system.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2395728" y="2743200"/>
            <a:ext cx="210312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2395728" y="2743200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688" y="2852928"/>
            <a:ext cx="457200" cy="457200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2487168" y="3383280"/>
            <a:ext cx="192024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0"/>
          <p:cNvSpPr/>
          <p:nvPr/>
        </p:nvSpPr>
        <p:spPr>
          <a:xfrm>
            <a:off x="2487168" y="33832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Automation Engineer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2487168" y="3639312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CF2"/>
                </a:solidFill>
              </a:rPr>
              <a:t>Edit existing rules to adjust thresholds (e.g. lower heater trigger) as Martian seasons change.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608576" y="2743200"/>
            <a:ext cx="210312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3"/>
          <p:cNvSpPr/>
          <p:nvPr/>
        </p:nvSpPr>
        <p:spPr>
          <a:xfrm>
            <a:off x="4608576" y="2743200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1536" y="2852928"/>
            <a:ext cx="457200" cy="457200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4700016" y="3383280"/>
            <a:ext cx="192024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35"/>
          <p:cNvSpPr/>
          <p:nvPr/>
        </p:nvSpPr>
        <p:spPr>
          <a:xfrm>
            <a:off x="4700016" y="33832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Automation Engineer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4700016" y="3584448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CF2"/>
                </a:solidFill>
              </a:rPr>
              <a:t>Temporarily disable and re-enable specific rules without deleting them to prevent false actuations during maintenance.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6821424" y="2743200"/>
            <a:ext cx="210312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8" name="Shape 38"/>
          <p:cNvSpPr/>
          <p:nvPr/>
        </p:nvSpPr>
        <p:spPr>
          <a:xfrm>
            <a:off x="6821424" y="2743200"/>
            <a:ext cx="210312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4384" y="2852928"/>
            <a:ext cx="457200" cy="457200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6912864" y="3383280"/>
            <a:ext cx="1920240" cy="2011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0"/>
          <p:cNvSpPr/>
          <p:nvPr/>
        </p:nvSpPr>
        <p:spPr>
          <a:xfrm>
            <a:off x="6912864" y="33832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Administrator</a:t>
            </a:r>
            <a:endParaRPr lang="en-US" sz="1200" dirty="0"/>
          </a:p>
        </p:txBody>
      </p:sp>
      <p:sp>
        <p:nvSpPr>
          <p:cNvPr id="52" name="Text 41"/>
          <p:cNvSpPr/>
          <p:nvPr/>
        </p:nvSpPr>
        <p:spPr>
          <a:xfrm>
            <a:off x="6912864" y="3639312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CF2"/>
                </a:solidFill>
              </a:rPr>
              <a:t>Automation rules are permanently saved so they survive a system crash or power cycle.</a:t>
            </a:r>
            <a:endParaRPr lang="en-US" sz="1200" dirty="0"/>
          </a:p>
        </p:txBody>
      </p:sp>
      <p:sp>
        <p:nvSpPr>
          <p:cNvPr id="53" name="Shape 4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4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Mars Automation Platform  ·  Lab Advanced Programming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 Stories — System Resilience &amp; Configuration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82880" y="822960"/>
            <a:ext cx="50749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82880" y="822960"/>
            <a:ext cx="54864" cy="7498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78408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06240" y="886968"/>
            <a:ext cx="914400" cy="2103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4206240" y="8869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49808" y="905256"/>
            <a:ext cx="3401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Dashboard displays data from ALL sensors regardless of transmission method — polling or streaming — no blind spots.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82880" y="1641348"/>
            <a:ext cx="50749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182880" y="1641348"/>
            <a:ext cx="54864" cy="7498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796796"/>
            <a:ext cx="347472" cy="34747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178808" y="1696974"/>
            <a:ext cx="914400" cy="2103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4206240" y="1705356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49808" y="1723644"/>
            <a:ext cx="3401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System evaluates rules the exact instant new sensor data arrives so life-saving equipment activates immediately.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82880" y="2459736"/>
            <a:ext cx="50749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182880" y="2459736"/>
            <a:ext cx="54864" cy="7498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15184"/>
            <a:ext cx="347472" cy="3474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06240" y="2523744"/>
            <a:ext cx="914400" cy="2103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/>
          <p:nvPr/>
        </p:nvSpPr>
        <p:spPr>
          <a:xfrm>
            <a:off x="4206240" y="2523744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49808" y="2542032"/>
            <a:ext cx="3401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The monitoring dashboard stays live and responsive even if the automated rule system goes offline.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182880" y="3278124"/>
            <a:ext cx="50749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182880" y="3278124"/>
            <a:ext cx="54864" cy="7498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433572"/>
            <a:ext cx="347472" cy="34747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206240" y="3342132"/>
            <a:ext cx="914400" cy="2103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0"/>
          <p:cNvSpPr/>
          <p:nvPr/>
        </p:nvSpPr>
        <p:spPr>
          <a:xfrm>
            <a:off x="4206240" y="3342132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9808" y="3360420"/>
            <a:ext cx="3401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A visual alert appears on the UI when a sensor reads out of normal bounds — even before a rule triggers.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182880" y="4096512"/>
            <a:ext cx="50749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182880" y="4096512"/>
            <a:ext cx="54864" cy="7498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251960"/>
            <a:ext cx="347472" cy="34747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4206240" y="4160520"/>
            <a:ext cx="914400" cy="2103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5"/>
          <p:cNvSpPr/>
          <p:nvPr/>
        </p:nvSpPr>
        <p:spPr>
          <a:xfrm>
            <a:off x="4206240" y="4160520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749808" y="4178808"/>
            <a:ext cx="34015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A global 'System Connection' indicator (Green/Red) shows immediately if the UI has lost its SSE/WebSocket connection.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440680" y="822960"/>
            <a:ext cx="35204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5440680" y="822960"/>
            <a:ext cx="54864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1024128"/>
            <a:ext cx="384048" cy="384048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7909560" y="886968"/>
            <a:ext cx="1005840" cy="2103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0"/>
          <p:cNvSpPr/>
          <p:nvPr/>
        </p:nvSpPr>
        <p:spPr>
          <a:xfrm>
            <a:off x="7863840" y="946404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Administratoror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971032" y="930783"/>
            <a:ext cx="2122932" cy="645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Configure global polling frequency for legacy sensors to balance network load with dashboard responsiveness.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5440680" y="1783080"/>
            <a:ext cx="35204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3"/>
          <p:cNvSpPr/>
          <p:nvPr/>
        </p:nvSpPr>
        <p:spPr>
          <a:xfrm>
            <a:off x="5440680" y="1783080"/>
            <a:ext cx="54864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1984248"/>
            <a:ext cx="384048" cy="38404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7863840" y="1847088"/>
            <a:ext cx="1051560" cy="1920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36"/>
          <p:cNvSpPr/>
          <p:nvPr/>
        </p:nvSpPr>
        <p:spPr>
          <a:xfrm>
            <a:off x="5897880" y="1907286"/>
            <a:ext cx="2112264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30"/>
                </a:solidFill>
              </a:rPr>
              <a:t>Manually trigger a refresh of all actuator states via a dashboard button to verify true physical status.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5477256" y="3933444"/>
            <a:ext cx="352044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44"/>
          <p:cNvSpPr/>
          <p:nvPr/>
        </p:nvSpPr>
        <p:spPr>
          <a:xfrm>
            <a:off x="5623560" y="363931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55" name="Text 45"/>
          <p:cNvSpPr/>
          <p:nvPr/>
        </p:nvSpPr>
        <p:spPr>
          <a:xfrm>
            <a:off x="6053328" y="363931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Rule Management (CRUD)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5623560" y="3986784"/>
            <a:ext cx="347472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47"/>
          <p:cNvSpPr/>
          <p:nvPr/>
        </p:nvSpPr>
        <p:spPr>
          <a:xfrm>
            <a:off x="5623560" y="39867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58" name="Text 48"/>
          <p:cNvSpPr/>
          <p:nvPr/>
        </p:nvSpPr>
        <p:spPr>
          <a:xfrm>
            <a:off x="6053328" y="398678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System Resilience</a:t>
            </a:r>
            <a:endParaRPr lang="en-US" sz="1200" dirty="0"/>
          </a:p>
        </p:txBody>
      </p:sp>
      <p:sp>
        <p:nvSpPr>
          <p:cNvPr id="61" name="Text 51"/>
          <p:cNvSpPr/>
          <p:nvPr/>
        </p:nvSpPr>
        <p:spPr>
          <a:xfrm>
            <a:off x="6053328" y="43342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</a:rPr>
              <a:t>Config &amp; Actuators</a:t>
            </a:r>
            <a:endParaRPr lang="en-US" sz="1200" dirty="0"/>
          </a:p>
        </p:txBody>
      </p:sp>
      <p:sp>
        <p:nvSpPr>
          <p:cNvPr id="64" name="Shape 5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5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Mars Automation Platform  ·  Lab Advanced Programming 2025/2026</a:t>
            </a:r>
            <a:endParaRPr lang="en-US" sz="1200" dirty="0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901B0566-FAB6-680B-1947-D8E81679FC61}"/>
              </a:ext>
            </a:extLst>
          </p:cNvPr>
          <p:cNvSpPr/>
          <p:nvPr/>
        </p:nvSpPr>
        <p:spPr>
          <a:xfrm>
            <a:off x="7863840" y="1833372"/>
            <a:ext cx="1051560" cy="2286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67" name="Shape 37">
            <a:extLst>
              <a:ext uri="{FF2B5EF4-FFF2-40B4-BE49-F238E27FC236}">
                <a16:creationId xmlns:a16="http://schemas.microsoft.com/office/drawing/2014/main" id="{227436CA-94D1-CCC7-AA75-48B8CDDAC1E0}"/>
              </a:ext>
            </a:extLst>
          </p:cNvPr>
          <p:cNvSpPr/>
          <p:nvPr/>
        </p:nvSpPr>
        <p:spPr>
          <a:xfrm>
            <a:off x="5468112" y="3997452"/>
            <a:ext cx="3529584" cy="818388"/>
          </a:xfrm>
          <a:prstGeom prst="rect">
            <a:avLst/>
          </a:prstGeom>
          <a:solidFill>
            <a:srgbClr val="0D1B3E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GB" dirty="0">
                <a:solidFill>
                  <a:srgbClr val="19B697"/>
                </a:solidFill>
              </a:rPr>
              <a:t>24 User stories implemented</a:t>
            </a:r>
          </a:p>
        </p:txBody>
      </p:sp>
      <p:sp>
        <p:nvSpPr>
          <p:cNvPr id="76" name="Shape 32">
            <a:extLst>
              <a:ext uri="{FF2B5EF4-FFF2-40B4-BE49-F238E27FC236}">
                <a16:creationId xmlns:a16="http://schemas.microsoft.com/office/drawing/2014/main" id="{D1AC8293-DD35-69AF-D5E1-91A7B470B181}"/>
              </a:ext>
            </a:extLst>
          </p:cNvPr>
          <p:cNvSpPr/>
          <p:nvPr/>
        </p:nvSpPr>
        <p:spPr>
          <a:xfrm>
            <a:off x="5440680" y="2796540"/>
            <a:ext cx="354787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pic>
        <p:nvPicPr>
          <p:cNvPr id="77" name="Image 7" descr="preencoded.png">
            <a:extLst>
              <a:ext uri="{FF2B5EF4-FFF2-40B4-BE49-F238E27FC236}">
                <a16:creationId xmlns:a16="http://schemas.microsoft.com/office/drawing/2014/main" id="{BFD5AC58-FBCD-2830-015F-EB08CAE5A1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8216" y="3025902"/>
            <a:ext cx="384048" cy="384048"/>
          </a:xfrm>
          <a:prstGeom prst="rect">
            <a:avLst/>
          </a:prstGeom>
        </p:spPr>
      </p:pic>
      <p:sp>
        <p:nvSpPr>
          <p:cNvPr id="78" name="Text 36">
            <a:extLst>
              <a:ext uri="{FF2B5EF4-FFF2-40B4-BE49-F238E27FC236}">
                <a16:creationId xmlns:a16="http://schemas.microsoft.com/office/drawing/2014/main" id="{9F51F715-A13E-0088-F9F5-62773AF57769}"/>
              </a:ext>
            </a:extLst>
          </p:cNvPr>
          <p:cNvSpPr/>
          <p:nvPr/>
        </p:nvSpPr>
        <p:spPr>
          <a:xfrm>
            <a:off x="5961888" y="2873502"/>
            <a:ext cx="2112264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Get notified each time an actuator state changes to be aware of what’s going on in the habitat</a:t>
            </a:r>
          </a:p>
        </p:txBody>
      </p:sp>
      <p:sp>
        <p:nvSpPr>
          <p:cNvPr id="79" name="Shape 9">
            <a:extLst>
              <a:ext uri="{FF2B5EF4-FFF2-40B4-BE49-F238E27FC236}">
                <a16:creationId xmlns:a16="http://schemas.microsoft.com/office/drawing/2014/main" id="{9BC0232B-CFA2-C784-75B2-F70A796A61E8}"/>
              </a:ext>
            </a:extLst>
          </p:cNvPr>
          <p:cNvSpPr/>
          <p:nvPr/>
        </p:nvSpPr>
        <p:spPr>
          <a:xfrm>
            <a:off x="7909560" y="2962656"/>
            <a:ext cx="914400" cy="2103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Operator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920" y="63337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176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Accomplished.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457200" y="27691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 →  http://localhost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Lab Advanced Programming 2025/2026  ·  Sapienza Università di Roma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901B0-39B5-C9E1-BA67-79E9C4824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D3AF83-9509-8F2A-AA28-55171C0A81F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660C1F0-9952-717F-1F59-AF403823A7B6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6955870-2BA6-B570-33F2-21AE8A9F37BE}"/>
              </a:ext>
            </a:extLst>
          </p:cNvPr>
          <p:cNvSpPr/>
          <p:nvPr/>
        </p:nvSpPr>
        <p:spPr>
          <a:xfrm>
            <a:off x="457200" y="216027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Accomplished.</a:t>
            </a:r>
            <a:endParaRPr lang="en-US" sz="4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BD97B54-370A-B6C4-9CE3-DBAB895FFDD4}"/>
              </a:ext>
            </a:extLst>
          </p:cNvPr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Lab Advanced Programming 2025/2026  ·  Sapienza Università di Roma</a:t>
            </a:r>
            <a:endParaRPr lang="en-US" sz="12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1C2CF4-E6FE-EE9C-4030-75587ACE0EAA}"/>
              </a:ext>
            </a:extLst>
          </p:cNvPr>
          <p:cNvGrpSpPr/>
          <p:nvPr/>
        </p:nvGrpSpPr>
        <p:grpSpPr>
          <a:xfrm>
            <a:off x="2253466" y="2359937"/>
            <a:ext cx="1440000" cy="1080000"/>
            <a:chOff x="228600" y="1188720"/>
            <a:chExt cx="1463040" cy="1371600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E35799EE-4C96-4278-E874-A98037C523F1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solidFill>
              <a:srgbClr val="0D1B3E"/>
            </a:solidFill>
            <a:ln w="25400">
              <a:solidFill>
                <a:schemeClr val="accent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D8C91A52-67B3-5E0D-676A-9BE8BB597658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</a:rPr>
                <a:t>Ebrahim Afridi</a:t>
              </a:r>
              <a:br>
                <a:rPr lang="en-US" sz="1200" b="1" dirty="0">
                  <a:solidFill>
                    <a:srgbClr val="FFFFFF"/>
                  </a:solidFill>
                </a:rPr>
              </a:br>
              <a:r>
                <a:rPr lang="en-US" sz="1200" b="1" dirty="0">
                  <a:solidFill>
                    <a:srgbClr val="FFFFFF"/>
                  </a:solidFill>
                </a:rPr>
                <a:t>2247107</a:t>
              </a:r>
              <a:endParaRPr lang="en-US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A3B6DC2-D567-6D28-9D7B-C1420A66B64C}"/>
              </a:ext>
            </a:extLst>
          </p:cNvPr>
          <p:cNvGrpSpPr/>
          <p:nvPr/>
        </p:nvGrpSpPr>
        <p:grpSpPr>
          <a:xfrm>
            <a:off x="5470800" y="2348126"/>
            <a:ext cx="1440000" cy="1080000"/>
            <a:chOff x="228600" y="1188720"/>
            <a:chExt cx="1463040" cy="1371600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1213208F-9796-AD35-A85A-C6875856134F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solidFill>
              <a:srgbClr val="0D1B3E"/>
            </a:solidFill>
            <a:ln w="25400">
              <a:solidFill>
                <a:schemeClr val="accent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E2889FB3-149A-446D-8FB8-BB2504B531D7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Dakshita Minocha</a:t>
              </a:r>
              <a:br>
                <a:rPr lang="en-US" sz="1200" b="1" dirty="0">
                  <a:solidFill>
                    <a:srgbClr val="FFFFFF"/>
                  </a:solidFill>
                </a:rPr>
              </a:br>
              <a:r>
                <a:rPr lang="en-US" sz="1200" b="1" dirty="0">
                  <a:solidFill>
                    <a:srgbClr val="FFFFFF"/>
                  </a:solidFill>
                </a:rPr>
                <a:t>2247114</a:t>
              </a:r>
              <a:endParaRPr lang="en-US" sz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E857BA-44B8-4A9A-3986-6588B28BDD68}"/>
              </a:ext>
            </a:extLst>
          </p:cNvPr>
          <p:cNvGrpSpPr/>
          <p:nvPr/>
        </p:nvGrpSpPr>
        <p:grpSpPr>
          <a:xfrm>
            <a:off x="3862133" y="2359937"/>
            <a:ext cx="1440000" cy="1080000"/>
            <a:chOff x="228600" y="1188720"/>
            <a:chExt cx="1463040" cy="1371600"/>
          </a:xfrm>
        </p:grpSpPr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479E9D7B-A925-F79A-DB6E-BEACBC8FB222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2BFC35EF-5CA4-EE56-9C13-05D793FF782B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 anchor="ctr"/>
            <a:lstStyle/>
            <a:p>
              <a:pPr algn="ctr"/>
              <a:r>
                <a:rPr lang="en-US" sz="1200" b="1" dirty="0"/>
                <a:t>Bojan </a:t>
              </a:r>
              <a:r>
                <a:rPr lang="en-US" sz="1200" b="1" dirty="0" err="1"/>
                <a:t>Robev</a:t>
              </a:r>
              <a:br>
                <a:rPr lang="en-US" sz="1200" b="1" dirty="0"/>
              </a:br>
              <a:r>
                <a:rPr lang="en-US" sz="1200" b="1" dirty="0"/>
                <a:t>2252060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74EE77-489C-6746-33F1-39FF2C075261}"/>
              </a:ext>
            </a:extLst>
          </p:cNvPr>
          <p:cNvGrpSpPr/>
          <p:nvPr/>
        </p:nvGrpSpPr>
        <p:grpSpPr>
          <a:xfrm>
            <a:off x="7063200" y="2337323"/>
            <a:ext cx="1440000" cy="1080000"/>
            <a:chOff x="228600" y="1188720"/>
            <a:chExt cx="1463040" cy="1371600"/>
          </a:xfrm>
          <a:solidFill>
            <a:schemeClr val="bg1"/>
          </a:solidFill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25BAF182-AADC-D382-E983-FCBD17135181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grpFill/>
            <a:ln w="25400">
              <a:solidFill>
                <a:schemeClr val="accent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99E17849-5F7F-EAE8-09AC-4CA77EF408B1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txBody>
            <a:bodyPr wrap="square" rtlCol="0" anchor="ctr"/>
            <a:lstStyle/>
            <a:p>
              <a:pPr algn="ctr"/>
              <a:r>
                <a:rPr lang="en-US" sz="1200" b="1" dirty="0"/>
                <a:t>Emanuele Scaccia 2006749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A508CE-B31E-A120-581E-6C5957E625D7}"/>
              </a:ext>
            </a:extLst>
          </p:cNvPr>
          <p:cNvGrpSpPr/>
          <p:nvPr/>
        </p:nvGrpSpPr>
        <p:grpSpPr>
          <a:xfrm>
            <a:off x="661066" y="2372734"/>
            <a:ext cx="1440000" cy="1080000"/>
            <a:chOff x="228600" y="1188720"/>
            <a:chExt cx="1463040" cy="1371600"/>
          </a:xfrm>
          <a:solidFill>
            <a:schemeClr val="bg1"/>
          </a:solidFill>
        </p:grpSpPr>
        <p:sp>
          <p:nvSpPr>
            <p:cNvPr id="24" name="Shape 2">
              <a:extLst>
                <a:ext uri="{FF2B5EF4-FFF2-40B4-BE49-F238E27FC236}">
                  <a16:creationId xmlns:a16="http://schemas.microsoft.com/office/drawing/2014/main" id="{40451C77-256C-5826-F34E-11259B5FF3E0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grpFill/>
            <a:ln w="25400">
              <a:solidFill>
                <a:schemeClr val="accent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 3">
              <a:extLst>
                <a:ext uri="{FF2B5EF4-FFF2-40B4-BE49-F238E27FC236}">
                  <a16:creationId xmlns:a16="http://schemas.microsoft.com/office/drawing/2014/main" id="{DF5488B5-1A28-7C2F-DA9F-2EF687EF6D48}"/>
                </a:ext>
              </a:extLst>
            </p:cNvPr>
            <p:cNvSpPr/>
            <p:nvPr/>
          </p:nvSpPr>
          <p:spPr>
            <a:xfrm>
              <a:off x="228600" y="1188720"/>
              <a:ext cx="1463040" cy="1371600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txBody>
            <a:bodyPr wrap="square" rtlCol="0" anchor="ctr"/>
            <a:lstStyle/>
            <a:p>
              <a:pPr algn="ctr"/>
              <a:r>
                <a:rPr lang="en-US" sz="1200" b="1" dirty="0"/>
                <a:t>Annie Jain</a:t>
              </a:r>
            </a:p>
            <a:p>
              <a:pPr algn="ctr"/>
              <a:r>
                <a:rPr lang="en-US" sz="1200" b="1" dirty="0"/>
                <a:t>2252767</a:t>
              </a:r>
              <a:endParaRPr lang="en-US" sz="1200" dirty="0"/>
            </a:p>
          </p:txBody>
        </p:sp>
      </p:grpSp>
      <p:sp>
        <p:nvSpPr>
          <p:cNvPr id="21" name="Text 1">
            <a:extLst>
              <a:ext uri="{FF2B5EF4-FFF2-40B4-BE49-F238E27FC236}">
                <a16:creationId xmlns:a16="http://schemas.microsoft.com/office/drawing/2014/main" id="{DD6A7F6B-B849-7C27-DA9F-CD5F17CEBB0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         Credits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83610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80</TotalTime>
  <Words>1293</Words>
  <Application>Microsoft Office PowerPoint</Application>
  <PresentationFormat>On-screen Show (16:9)</PresentationFormat>
  <Paragraphs>243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 IoT Platform</dc:title>
  <dc:subject>PptxGenJS Presentation</dc:subject>
  <dc:creator>PptxGenJS</dc:creator>
  <cp:lastModifiedBy>Dakshita Minocha</cp:lastModifiedBy>
  <cp:revision>11</cp:revision>
  <dcterms:created xsi:type="dcterms:W3CDTF">2026-03-10T18:35:54Z</dcterms:created>
  <dcterms:modified xsi:type="dcterms:W3CDTF">2026-03-10T22:24:49Z</dcterms:modified>
</cp:coreProperties>
</file>